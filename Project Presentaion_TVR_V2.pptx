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01" r:id="rId2"/>
    <p:sldId id="279" r:id="rId3"/>
    <p:sldId id="272" r:id="rId4"/>
    <p:sldId id="273" r:id="rId5"/>
    <p:sldId id="325" r:id="rId6"/>
    <p:sldId id="306" r:id="rId7"/>
    <p:sldId id="316" r:id="rId8"/>
    <p:sldId id="317" r:id="rId9"/>
    <p:sldId id="318" r:id="rId10"/>
    <p:sldId id="305" r:id="rId11"/>
    <p:sldId id="304" r:id="rId12"/>
    <p:sldId id="323" r:id="rId13"/>
    <p:sldId id="321" r:id="rId14"/>
    <p:sldId id="322" r:id="rId15"/>
    <p:sldId id="320" r:id="rId16"/>
    <p:sldId id="324" r:id="rId17"/>
    <p:sldId id="307" r:id="rId18"/>
    <p:sldId id="319" r:id="rId19"/>
    <p:sldId id="309" r:id="rId20"/>
    <p:sldId id="299" r:id="rId21"/>
  </p:sldIdLst>
  <p:sldSz cx="12192000" cy="6858000"/>
  <p:notesSz cx="6858000" cy="9144000"/>
  <p:defaultTextStyle>
    <a:defPPr>
      <a:defRPr lang="en-US"/>
    </a:defPPr>
    <a:lvl1pPr marL="0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457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6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175235-FD81-D761-3EFC-848F1E2056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926D1-3B38-2D68-8D2F-EC0DDAE86B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4DC96-5CD5-47A7-A22A-56CBCF9425B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AA73C-76E4-90F2-E764-1FF59A9561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40451-E833-3D0C-C82F-1520F2A381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4DDB6-00E3-40B5-BACC-A815B17D5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0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9FE33-E735-44B8-BB35-16F877C7D2D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56740-E873-41A4-A752-F498DCCF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18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02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D80B-4C1C-463C-19B7-0E8911EA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EBC94-182C-6DE3-1727-A96311730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8DFC3-41CE-AF4F-8393-93F52C39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2A9A9-D027-8641-CBB2-3B7280AD0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98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10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4194-2BA8-DCAE-A5E0-92571289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6AF71-D19C-067E-4CF7-8891D121C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933C2-C394-52C8-D961-7CDE8485D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ED9F6-7F61-10BD-0F4C-756190359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85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1665-1005-0F3B-6F31-A2887725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3C319-4128-E441-D551-5E9E314FF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E5231-3D88-DD6B-1E63-B3AC4363F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18AAA-F406-7030-DEE3-FEAA610FC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75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FC28-A62B-4784-7C1A-CA7D32454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4D01F-6B4B-9C40-1A0D-DBB541C7F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01488-4B30-3BB5-2465-A1C50C8F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Hard braking is a consequence of low TTC, not the main cause.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3C0FF-4DB5-EEC4-E3A5-4C28433EC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0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8C2D-BE70-4C3C-E79E-E169F52C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A277A-54A9-68D5-1F2E-9CF252148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C42A0-3D35-B684-40B4-FD37EF91E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513E0-EFB9-2558-1ADE-52B22235E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88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CD57-12E8-4A57-821F-A44158DE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C333B-D891-E1E1-08CF-A91BE2A4F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57BB7-A85D-D82E-6D71-097D1362F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12D10-0FE7-8627-76DC-E0F257ABC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36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B53F-FC71-5A6A-2219-CD7D1C25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49C05-9FC9-7B3C-8766-7D27AF3C2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895D6-8413-7F16-5C27-C24FDA4AF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5236D-217F-3417-06DD-0CA2ED0FC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23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B1A-08DE-B965-1350-E50ED99B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67241-F09E-2F68-431E-FFF135E55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364DD-05C9-D042-5961-15B93869E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EE68-8474-AF69-246A-B6E05F568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4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Hard braking is a consequence of low TTC, not the main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56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45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9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1" y="-4761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2" y="1380073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8" y="3996267"/>
            <a:ext cx="6987646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FDAF-CEBA-49D5-8C4C-FA75B5C0693C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80"/>
            <a:ext cx="4324044" cy="365125"/>
          </a:xfrm>
        </p:spPr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6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BCCC6-52C3-40EC-A371-E4A6EBE5A21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9" y="58671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84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9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52EA-CEED-45F8-8F70-0842B4F5E5B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5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4" y="685804"/>
            <a:ext cx="10018712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5" y="2667003"/>
            <a:ext cx="4895055" cy="3124201"/>
          </a:xfrm>
        </p:spPr>
        <p:txBody>
          <a:bodyPr>
            <a:normAutofit/>
          </a:bodyPr>
          <a:lstStyle>
            <a:lvl1pPr>
              <a:defRPr sz="1801"/>
            </a:lvl1pPr>
            <a:lvl2pPr>
              <a:defRPr sz="1600"/>
            </a:lvl2pPr>
            <a:lvl3pPr>
              <a:defRPr sz="140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7" cy="3124200"/>
          </a:xfrm>
        </p:spPr>
        <p:txBody>
          <a:bodyPr>
            <a:normAutofit/>
          </a:bodyPr>
          <a:lstStyle>
            <a:lvl1pPr>
              <a:defRPr sz="1801"/>
            </a:lvl1pPr>
            <a:lvl2pPr>
              <a:defRPr sz="1600"/>
            </a:lvl2pPr>
            <a:lvl3pPr>
              <a:defRPr sz="140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913-3A4B-42E3-AAA1-F0D1B1D45321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81" y="2658533"/>
            <a:ext cx="4607189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7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39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3" y="3335338"/>
            <a:ext cx="4895057" cy="2455862"/>
          </a:xfrm>
        </p:spPr>
        <p:txBody>
          <a:bodyPr anchor="t">
            <a:normAutofit/>
          </a:bodyPr>
          <a:lstStyle>
            <a:lvl1pPr>
              <a:defRPr sz="1801"/>
            </a:lvl1pPr>
            <a:lvl2pPr>
              <a:defRPr sz="1600"/>
            </a:lvl2pPr>
            <a:lvl3pPr>
              <a:defRPr sz="140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90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7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39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8"/>
            <a:ext cx="4895057" cy="2455862"/>
          </a:xfrm>
        </p:spPr>
        <p:txBody>
          <a:bodyPr anchor="t">
            <a:normAutofit/>
          </a:bodyPr>
          <a:lstStyle>
            <a:lvl1pPr>
              <a:defRPr sz="1801"/>
            </a:lvl1pPr>
            <a:lvl2pPr>
              <a:defRPr sz="1600"/>
            </a:lvl2pPr>
            <a:lvl3pPr>
              <a:defRPr sz="140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85773-BC8C-46DE-864B-B636FAF2A134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DC52F-3285-408D-87ED-92F675217B45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ABAEE-D79B-472C-A941-B6D6A9E57B45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7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803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1"/>
            </a:lvl2pPr>
            <a:lvl3pPr>
              <a:defRPr sz="1600"/>
            </a:lvl3pPr>
            <a:lvl4pPr>
              <a:defRPr sz="1401"/>
            </a:lvl4pPr>
            <a:lvl5pPr>
              <a:defRPr sz="1401"/>
            </a:lvl5pPr>
            <a:lvl6pPr>
              <a:defRPr sz="1401"/>
            </a:lvl6pPr>
            <a:lvl7pPr>
              <a:defRPr sz="1401"/>
            </a:lvl7pPr>
            <a:lvl8pPr>
              <a:defRPr sz="1401"/>
            </a:lvl8pPr>
            <a:lvl9pPr>
              <a:defRPr sz="14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7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7" indent="0">
              <a:buNone/>
              <a:defRPr sz="1200"/>
            </a:lvl2pPr>
            <a:lvl3pPr marL="914411" indent="0">
              <a:buNone/>
              <a:defRPr sz="1001"/>
            </a:lvl3pPr>
            <a:lvl4pPr marL="1371618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39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7587-8017-4AC7-925E-A802CE6E22F0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8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5" y="1752599"/>
            <a:ext cx="5426157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4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7" indent="0">
              <a:buNone/>
              <a:defRPr sz="1600"/>
            </a:lvl2pPr>
            <a:lvl3pPr marL="914411" indent="0">
              <a:buNone/>
              <a:defRPr sz="1600"/>
            </a:lvl3pPr>
            <a:lvl4pPr marL="1371618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39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5" y="3124199"/>
            <a:ext cx="5426157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1"/>
            </a:lvl1pPr>
            <a:lvl2pPr marL="457207" indent="0">
              <a:buNone/>
              <a:defRPr sz="1200"/>
            </a:lvl2pPr>
            <a:lvl3pPr marL="914411" indent="0">
              <a:buNone/>
              <a:defRPr sz="1001"/>
            </a:lvl3pPr>
            <a:lvl4pPr marL="1371618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39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6CF1-001D-4B02-95FC-3373963B84B3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8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6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3" y="932113"/>
            <a:ext cx="822594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7" indent="0">
              <a:buNone/>
              <a:defRPr sz="1600"/>
            </a:lvl2pPr>
            <a:lvl3pPr marL="914411" indent="0">
              <a:buNone/>
              <a:defRPr sz="1600"/>
            </a:lvl3pPr>
            <a:lvl4pPr marL="1371618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39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6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1"/>
            </a:lvl1pPr>
            <a:lvl2pPr marL="457207" indent="0">
              <a:buNone/>
              <a:defRPr sz="1200"/>
            </a:lvl2pPr>
            <a:lvl3pPr marL="914411" indent="0">
              <a:buNone/>
              <a:defRPr sz="1001"/>
            </a:lvl3pPr>
            <a:lvl4pPr marL="1371618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39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CC9A-0B1A-46DF-B231-A99953875171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4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7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6" y="4343400"/>
            <a:ext cx="1001871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D373-9AA8-41BC-978A-151B123EB9C1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4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1" rIns="91440" bIns="4572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1" rIns="91440" bIns="4572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3"/>
            <a:ext cx="8990011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4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1"/>
            </a:lvl1pPr>
            <a:lvl2pPr marL="457207" indent="0">
              <a:buFontTx/>
              <a:buNone/>
              <a:defRPr/>
            </a:lvl2pPr>
            <a:lvl3pPr marL="914411" indent="0">
              <a:buFontTx/>
              <a:buNone/>
              <a:defRPr/>
            </a:lvl3pPr>
            <a:lvl4pPr marL="1371618" indent="0">
              <a:buFontTx/>
              <a:buNone/>
              <a:defRPr/>
            </a:lvl4pPr>
            <a:lvl5pPr marL="1828823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6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B86A-F4EC-4128-8BB3-D13CF81B795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9AD4-C16B-4B12-955C-45B1AC89EE7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90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1" rIns="91440" bIns="4572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1" rIns="91440" bIns="4572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3"/>
            <a:ext cx="8990011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4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1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60AD-CCBC-409C-8C93-C312546AA6E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4" y="685805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6" y="3505200"/>
            <a:ext cx="1001871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4" y="4343400"/>
            <a:ext cx="1001871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1">
                <a:solidFill>
                  <a:schemeClr val="tx1"/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3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C266-2B27-49C2-ABEA-7C6B0B5D2FD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80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44E9-FC29-4D90-AF70-9F773F0F5442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22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8" y="685800"/>
            <a:ext cx="177037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6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9B40-5665-4CC9-8F7F-F2B68727E8D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3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6" y="4"/>
            <a:ext cx="2436814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2117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4" y="685804"/>
            <a:ext cx="10018712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2667003"/>
            <a:ext cx="10018712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8" y="5883280"/>
            <a:ext cx="1143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1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B01A57-73A1-4ACE-8DEC-4702ABB87C01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1" y="5883280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1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9" y="5883280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1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7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3" indent="-285753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9" indent="-285753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65" indent="-285753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67" indent="-17145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75" indent="-17145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1" indent="-22860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9" indent="-22860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50" indent="-228602" algn="l" defTabSz="457207" rtl="0" eaLnBrk="1" latinLnBrk="0" hangingPunct="1">
        <a:spcBef>
          <a:spcPct val="20000"/>
        </a:spcBef>
        <a:spcAft>
          <a:spcPts val="60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3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E0B9-BF40-77DD-76C8-3C693DB69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1203" y="994315"/>
            <a:ext cx="8964505" cy="1803561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TESTING AND VALIDATION OF AUTOMATED  ROAD VEHICLES</a:t>
            </a:r>
            <a:r>
              <a:rPr lang="en-US" sz="4000" b="1" dirty="0"/>
              <a:t/>
            </a:r>
            <a:br>
              <a:rPr lang="en-US" sz="4000" b="1" dirty="0"/>
            </a:br>
            <a:r>
              <a:rPr lang="en-US" sz="2800" b="1" dirty="0"/>
              <a:t>FINAL PROJECT</a:t>
            </a:r>
            <a:br>
              <a:rPr lang="en-US" sz="2800" b="1" dirty="0"/>
            </a:br>
            <a:r>
              <a:rPr lang="en-US" sz="2800" b="1" dirty="0"/>
              <a:t>2025-2026</a:t>
            </a:r>
            <a:r>
              <a:rPr lang="en-US" dirty="0"/>
              <a:t/>
            </a:r>
            <a:br>
              <a:rPr lang="en-US" dirty="0"/>
            </a:br>
            <a:endParaRPr 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CEAC3-10EB-A48B-D40E-49975674C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8059" y="5796114"/>
            <a:ext cx="4346293" cy="974476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b="1" dirty="0"/>
          </a:p>
          <a:p>
            <a:pPr algn="l"/>
            <a:r>
              <a:rPr lang="en-US" b="1" dirty="0" smtClean="0"/>
              <a:t>D18000070: </a:t>
            </a:r>
            <a:r>
              <a:rPr lang="en-US" dirty="0"/>
              <a:t>Pars Oner</a:t>
            </a:r>
          </a:p>
          <a:p>
            <a:pPr algn="l"/>
            <a:r>
              <a:rPr lang="en-US" b="1" dirty="0"/>
              <a:t>D18000065</a:t>
            </a:r>
            <a:r>
              <a:rPr lang="en-US" dirty="0"/>
              <a:t>  Adithya Zacharia </a:t>
            </a:r>
            <a:r>
              <a:rPr lang="en-US" dirty="0" err="1"/>
              <a:t>Valavi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8757965-EADC-F540-B577-27DF78C35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BA8746D7-6C00-B0AD-67F3-4A1BF6FB2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4" y="994314"/>
            <a:ext cx="818032" cy="64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C599567-F9F7-6F3A-63F7-98189B96A6D3}"/>
              </a:ext>
            </a:extLst>
          </p:cNvPr>
          <p:cNvSpPr txBox="1">
            <a:spLocks/>
          </p:cNvSpPr>
          <p:nvPr/>
        </p:nvSpPr>
        <p:spPr>
          <a:xfrm>
            <a:off x="2616471" y="3211348"/>
            <a:ext cx="8229600" cy="740587"/>
          </a:xfrm>
          <a:prstGeom prst="rect">
            <a:avLst/>
          </a:prstGeom>
          <a:effectLst/>
        </p:spPr>
        <p:txBody>
          <a:bodyPr vert="horz" lIns="91440" tIns="45721" rIns="91440" bIns="45721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dirty="0"/>
              <a:t>SYSTEM UNDER TEST (SUT): ADAPTIVE CRUISE CONTROL (ACC)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AB94C-B7AE-F72B-1A94-677D564BC22B}"/>
              </a:ext>
            </a:extLst>
          </p:cNvPr>
          <p:cNvSpPr txBox="1"/>
          <p:nvPr/>
        </p:nvSpPr>
        <p:spPr>
          <a:xfrm>
            <a:off x="6249490" y="4642056"/>
            <a:ext cx="609600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3100"/>
            </a:pPr>
            <a:r>
              <a:rPr lang="en-US" sz="1801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GUIDE: Prof. Angelo Coppola</a:t>
            </a:r>
          </a:p>
        </p:txBody>
      </p:sp>
    </p:spTree>
    <p:extLst>
      <p:ext uri="{BB962C8B-B14F-4D97-AF65-F5344CB8AC3E}">
        <p14:creationId xmlns:p14="http://schemas.microsoft.com/office/powerpoint/2010/main" val="30015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AF69-DA60-695E-12E6-B9272E31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786" y="326147"/>
            <a:ext cx="3732996" cy="6492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DEB2-0158-86CF-BCA4-F2EACFA30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250" y="1039349"/>
            <a:ext cx="5295166" cy="4827785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dirty="0">
                <a:latin typeface="Arial" panose="020B0604020202020204" pitchFamily="34" charset="0"/>
                <a:cs typeface="Arial" panose="020B0604020202020204" pitchFamily="34" charset="0"/>
              </a:rPr>
              <a:t>Aim:</a:t>
            </a:r>
          </a:p>
          <a:p>
            <a:pPr algn="just" fontAlgn="base"/>
            <a:r>
              <a:rPr lang="en-US" sz="9600" dirty="0">
                <a:solidFill>
                  <a:srgbClr val="002060"/>
                </a:solidFill>
              </a:rPr>
              <a:t>Define and model the system under test – SUT​</a:t>
            </a:r>
          </a:p>
          <a:p>
            <a:pPr algn="just" fontAlgn="base"/>
            <a:r>
              <a:rPr lang="en-US" sz="9600" dirty="0">
                <a:solidFill>
                  <a:srgbClr val="002060"/>
                </a:solidFill>
              </a:rPr>
              <a:t>Model the Ego-Vehicle dynamics​</a:t>
            </a:r>
          </a:p>
          <a:p>
            <a:pPr algn="just" fontAlgn="base"/>
            <a:r>
              <a:rPr lang="en-US" sz="9600" dirty="0">
                <a:solidFill>
                  <a:srgbClr val="002060"/>
                </a:solidFill>
              </a:rPr>
              <a:t>Identify a test case​</a:t>
            </a:r>
          </a:p>
          <a:p>
            <a:pPr algn="just" fontAlgn="base"/>
            <a:r>
              <a:rPr lang="en-US" sz="9600" dirty="0">
                <a:solidFill>
                  <a:srgbClr val="002060"/>
                </a:solidFill>
              </a:rPr>
              <a:t>Identify and describe input variables, possible range </a:t>
            </a:r>
            <a:r>
              <a:rPr lang="en-US" sz="9600" dirty="0" smtClean="0">
                <a:solidFill>
                  <a:srgbClr val="002060"/>
                </a:solidFill>
              </a:rPr>
              <a:t>of </a:t>
            </a:r>
            <a:r>
              <a:rPr lang="en-US" sz="9600" dirty="0">
                <a:solidFill>
                  <a:srgbClr val="002060"/>
                </a:solidFill>
              </a:rPr>
              <a:t>variations and possible impacts </a:t>
            </a:r>
            <a:r>
              <a:rPr lang="en-US" sz="9600" dirty="0" smtClean="0">
                <a:solidFill>
                  <a:srgbClr val="002060"/>
                </a:solidFill>
              </a:rPr>
              <a:t>on </a:t>
            </a:r>
            <a:r>
              <a:rPr lang="en-US" sz="9600" dirty="0">
                <a:solidFill>
                  <a:srgbClr val="002060"/>
                </a:solidFill>
              </a:rPr>
              <a:t>the behavior of the system​. </a:t>
            </a:r>
          </a:p>
          <a:p>
            <a:pPr algn="just" fontAlgn="base"/>
            <a:r>
              <a:rPr lang="en-US" sz="9600" dirty="0">
                <a:solidFill>
                  <a:srgbClr val="002060"/>
                </a:solidFill>
              </a:rPr>
              <a:t>Design </a:t>
            </a:r>
            <a:r>
              <a:rPr lang="en-US" sz="9600" dirty="0" smtClean="0">
                <a:solidFill>
                  <a:srgbClr val="002060"/>
                </a:solidFill>
              </a:rPr>
              <a:t>a test-pla</a:t>
            </a:r>
            <a:r>
              <a:rPr lang="en-US" sz="9600" dirty="0" smtClean="0"/>
              <a:t>n </a:t>
            </a:r>
            <a:r>
              <a:rPr lang="en-US" sz="9600" dirty="0" smtClean="0">
                <a:solidFill>
                  <a:srgbClr val="002060"/>
                </a:solidFill>
              </a:rPr>
              <a:t>(</a:t>
            </a:r>
            <a:r>
              <a:rPr lang="en-GB" sz="9600" dirty="0">
                <a:solidFill>
                  <a:srgbClr val="002060"/>
                </a:solidFill>
              </a:rPr>
              <a:t>ODD assumptions + pass/fail thresholds + reproducibility (seed/</a:t>
            </a:r>
            <a:r>
              <a:rPr lang="en-GB" sz="9600" dirty="0" err="1">
                <a:solidFill>
                  <a:srgbClr val="002060"/>
                </a:solidFill>
              </a:rPr>
              <a:t>config</a:t>
            </a:r>
            <a:r>
              <a:rPr lang="en-GB" sz="9600" dirty="0">
                <a:solidFill>
                  <a:srgbClr val="002060"/>
                </a:solidFill>
              </a:rPr>
              <a:t>)</a:t>
            </a:r>
            <a:r>
              <a:rPr lang="en-US" sz="9600" dirty="0">
                <a:solidFill>
                  <a:srgbClr val="002060"/>
                </a:solidFill>
              </a:rPr>
              <a:t>)</a:t>
            </a:r>
            <a:endParaRPr lang="en-US" sz="9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1075DC-0575-28C9-3FD5-3263683E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040DBF56-4CC1-EACD-675B-8C0233D4D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32428F17-7653-5A36-21BA-717883C2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Car on road over sunny day - Stock Image - Everypixel">
            <a:extLst>
              <a:ext uri="{FF2B5EF4-FFF2-40B4-BE49-F238E27FC236}">
                <a16:creationId xmlns:a16="http://schemas.microsoft.com/office/drawing/2014/main" id="{B556E4D4-6174-4B33-3C4B-DC5A3C0F3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566" y="1846006"/>
            <a:ext cx="4707916" cy="257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13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6F82-28D5-6441-029D-4CB6CE26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D80C693-0CDC-9D0B-2F07-465260A51A84}"/>
              </a:ext>
            </a:extLst>
          </p:cNvPr>
          <p:cNvSpPr txBox="1">
            <a:spLocks/>
          </p:cNvSpPr>
          <p:nvPr/>
        </p:nvSpPr>
        <p:spPr>
          <a:xfrm>
            <a:off x="2351284" y="166178"/>
            <a:ext cx="8574623" cy="821605"/>
          </a:xfrm>
          <a:prstGeom prst="rect">
            <a:avLst/>
          </a:prstGeom>
          <a:effectLst/>
        </p:spPr>
        <p:txBody>
          <a:bodyPr vert="horz" lIns="91440" tIns="45721" rIns="91440" bIns="45721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700" b="1" dirty="0"/>
              <a:t>PROJECT OBJECTIVE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39C4C4-F57E-4E54-B693-74573DDF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61F8713-9907-0BE8-76EE-03AE25312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29A220B-E0AC-BF73-4CA6-1B0120CF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6" y="6002869"/>
            <a:ext cx="212345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D22AAD-3B9B-F2D8-80F9-8F09E1230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200" y="1252862"/>
            <a:ext cx="9962405" cy="43810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Evaluate ACC safety performance under diverse </a:t>
            </a:r>
            <a:r>
              <a:rPr lang="en-US" dirty="0" smtClean="0">
                <a:solidFill>
                  <a:srgbClr val="002060"/>
                </a:solidFill>
              </a:rPr>
              <a:t>simulated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conditions.</a:t>
            </a:r>
          </a:p>
          <a:p>
            <a:r>
              <a:rPr lang="en-US" dirty="0">
                <a:solidFill>
                  <a:srgbClr val="002060"/>
                </a:solidFill>
              </a:rPr>
              <a:t>Use Latin Hypercube Sampling to vary vehicle, road, and driver parameters</a:t>
            </a:r>
          </a:p>
          <a:p>
            <a:r>
              <a:rPr lang="en-US" dirty="0">
                <a:solidFill>
                  <a:srgbClr val="002060"/>
                </a:solidFill>
              </a:rPr>
              <a:t>Run 210 Simulink simulations to capture system </a:t>
            </a:r>
            <a:r>
              <a:rPr lang="en-US" dirty="0" smtClean="0">
                <a:solidFill>
                  <a:srgbClr val="002060"/>
                </a:solidFill>
              </a:rPr>
              <a:t>behavior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Compute safety KPIs </a:t>
            </a:r>
          </a:p>
          <a:p>
            <a:r>
              <a:rPr lang="en-US" dirty="0">
                <a:solidFill>
                  <a:srgbClr val="002060"/>
                </a:solidFill>
              </a:rPr>
              <a:t>Identify safe vs. unsafe parameter regions</a:t>
            </a:r>
          </a:p>
          <a:p>
            <a:endParaRPr lang="en-US" sz="1401" b="1" dirty="0"/>
          </a:p>
          <a:p>
            <a:endParaRPr lang="en-US" sz="1401" dirty="0"/>
          </a:p>
          <a:p>
            <a:pPr lvl="1" algn="just">
              <a:buFont typeface="Arial" panose="020B0604020202020204" pitchFamily="34" charset="0"/>
              <a:buChar char="•"/>
            </a:pPr>
            <a:endParaRPr lang="en-US" sz="1401" dirty="0"/>
          </a:p>
        </p:txBody>
      </p:sp>
    </p:spTree>
    <p:extLst>
      <p:ext uri="{BB962C8B-B14F-4D97-AF65-F5344CB8AC3E}">
        <p14:creationId xmlns:p14="http://schemas.microsoft.com/office/powerpoint/2010/main" val="151226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3B85-6642-8F45-E57D-6E22D0CD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831" y="28742"/>
            <a:ext cx="4310810" cy="1139015"/>
          </a:xfrm>
        </p:spPr>
        <p:txBody>
          <a:bodyPr>
            <a:normAutofit/>
          </a:bodyPr>
          <a:lstStyle/>
          <a:p>
            <a:r>
              <a:rPr lang="en-US" sz="3600" b="1" dirty="0"/>
              <a:t>METHODOLOGY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AB1D34-8710-3961-0819-BBB8922F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C278D3C-77DF-1B5E-26D6-4A892ABAB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57A0B-BC73-DCBB-F8E6-BDB8ACCE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4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6971AB-6E8B-D232-FD21-49B3F772019B}"/>
              </a:ext>
            </a:extLst>
          </p:cNvPr>
          <p:cNvGrpSpPr/>
          <p:nvPr/>
        </p:nvGrpSpPr>
        <p:grpSpPr>
          <a:xfrm>
            <a:off x="954911" y="1533831"/>
            <a:ext cx="10715982" cy="4104969"/>
            <a:chOff x="954908" y="1533829"/>
            <a:chExt cx="10715982" cy="41049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C1296D-0EE7-3FB0-D06F-66BFB46F32E3}"/>
                </a:ext>
              </a:extLst>
            </p:cNvPr>
            <p:cNvSpPr/>
            <p:nvPr/>
          </p:nvSpPr>
          <p:spPr>
            <a:xfrm>
              <a:off x="954908" y="1533829"/>
              <a:ext cx="2748955" cy="161740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PARAMETERS RANGE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Vehicle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Driver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Environment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55748E-B0D7-51BF-3883-D42618ACBA3D}"/>
                </a:ext>
              </a:extLst>
            </p:cNvPr>
            <p:cNvSpPr/>
            <p:nvPr/>
          </p:nvSpPr>
          <p:spPr>
            <a:xfrm>
              <a:off x="4517159" y="1533829"/>
              <a:ext cx="3157680" cy="161740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LATIN HYPERCUBE SAMPLING (LHS)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Generate 210 samples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6064CD-9835-7881-3568-E97260BE5203}"/>
                </a:ext>
              </a:extLst>
            </p:cNvPr>
            <p:cNvSpPr/>
            <p:nvPr/>
          </p:nvSpPr>
          <p:spPr>
            <a:xfrm>
              <a:off x="8249265" y="1533829"/>
              <a:ext cx="3421625" cy="161740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SIMULINK ACC SIMULATION 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 ACC Controller          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Vehicle Dynamics       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Lead Vehicle Model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627167-0430-7DB7-EEB6-C635D1869826}"/>
                </a:ext>
              </a:extLst>
            </p:cNvPr>
            <p:cNvSpPr/>
            <p:nvPr/>
          </p:nvSpPr>
          <p:spPr>
            <a:xfrm>
              <a:off x="8249264" y="3662515"/>
              <a:ext cx="3421625" cy="19762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KPI EVALUATION BLOCK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TTC max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TTC min            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Violation rate           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Acceleration max</a:t>
              </a:r>
            </a:p>
            <a:p>
              <a:pPr marL="342903" indent="-342903"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Acceleration  min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BAC054-580C-373D-7824-7AC1C79884A9}"/>
                </a:ext>
              </a:extLst>
            </p:cNvPr>
            <p:cNvSpPr/>
            <p:nvPr/>
          </p:nvSpPr>
          <p:spPr>
            <a:xfrm>
              <a:off x="4618321" y="3662515"/>
              <a:ext cx="2955356" cy="19762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COLLECT RESULTS   </a:t>
              </a:r>
            </a:p>
            <a:p>
              <a:pPr algn="just"/>
              <a:r>
                <a:rPr lang="en-US" sz="1801" dirty="0">
                  <a:solidFill>
                    <a:srgbClr val="002060"/>
                  </a:solidFill>
                </a:rPr>
                <a:t>Stores the input parameters and output KPIs for every simulation performed using Latin Hypercube Sampling (LHS)in  </a:t>
              </a:r>
              <a:r>
                <a:rPr lang="en-US" sz="1801" dirty="0" err="1">
                  <a:solidFill>
                    <a:srgbClr val="002060"/>
                  </a:solidFill>
                </a:rPr>
                <a:t>resultsLHS</a:t>
              </a:r>
              <a:r>
                <a:rPr lang="en-US" sz="1801" dirty="0">
                  <a:solidFill>
                    <a:srgbClr val="002060"/>
                  </a:solidFill>
                </a:rPr>
                <a:t> struct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CBFD89-6CEE-DFCB-5454-BE9A1F149A11}"/>
                </a:ext>
              </a:extLst>
            </p:cNvPr>
            <p:cNvSpPr/>
            <p:nvPr/>
          </p:nvSpPr>
          <p:spPr>
            <a:xfrm>
              <a:off x="987378" y="3662515"/>
              <a:ext cx="2955356" cy="197628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1" dirty="0">
                  <a:solidFill>
                    <a:srgbClr val="002060"/>
                  </a:solidFill>
                </a:rPr>
                <a:t>ANALYSIS &amp; VISUALIZATION </a:t>
              </a:r>
            </a:p>
            <a:p>
              <a:pPr marL="342903" indent="-342903">
                <a:buFont typeface="+mj-lt"/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Scatter plots           </a:t>
              </a:r>
            </a:p>
            <a:p>
              <a:pPr marL="342903" indent="-342903">
                <a:buFont typeface="+mj-lt"/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PDF curves</a:t>
              </a:r>
            </a:p>
            <a:p>
              <a:pPr marL="342903" indent="-342903">
                <a:buFont typeface="+mj-lt"/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CDF safety thresholds</a:t>
              </a:r>
            </a:p>
            <a:p>
              <a:pPr marL="342903" indent="-342903">
                <a:buFont typeface="+mj-lt"/>
                <a:buAutoNum type="arabicPeriod"/>
              </a:pPr>
              <a:r>
                <a:rPr lang="en-US" sz="1801" dirty="0">
                  <a:solidFill>
                    <a:srgbClr val="002060"/>
                  </a:solidFill>
                </a:rPr>
                <a:t> Sensitivity trends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9CB7937-8CCC-8FCF-B958-5D6353F6C58B}"/>
                </a:ext>
              </a:extLst>
            </p:cNvPr>
            <p:cNvCxnSpPr>
              <a:stCxn id="10" idx="3"/>
              <a:endCxn id="14" idx="1"/>
            </p:cNvCxnSpPr>
            <p:nvPr/>
          </p:nvCxnSpPr>
          <p:spPr>
            <a:xfrm>
              <a:off x="3703863" y="2342534"/>
              <a:ext cx="8132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C946A24-EA95-484D-67FE-8E92F84327DF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7674839" y="2342533"/>
              <a:ext cx="574426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476620E-1F9E-FF3E-9F84-DE610D4EEE31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H="1">
              <a:off x="9960077" y="3151238"/>
              <a:ext cx="1" cy="5112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388A00F-48F3-A2E9-4CA8-1BF9C197B090}"/>
                </a:ext>
              </a:extLst>
            </p:cNvPr>
            <p:cNvCxnSpPr>
              <a:cxnSpLocks/>
              <a:stCxn id="16" idx="1"/>
              <a:endCxn id="17" idx="3"/>
            </p:cNvCxnSpPr>
            <p:nvPr/>
          </p:nvCxnSpPr>
          <p:spPr>
            <a:xfrm flipH="1">
              <a:off x="7573677" y="4650656"/>
              <a:ext cx="6755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D7126E5-FF6C-6CAC-F24B-155B7A88D698}"/>
                </a:ext>
              </a:extLst>
            </p:cNvPr>
            <p:cNvCxnSpPr>
              <a:cxnSpLocks/>
              <a:stCxn id="17" idx="1"/>
              <a:endCxn id="18" idx="3"/>
            </p:cNvCxnSpPr>
            <p:nvPr/>
          </p:nvCxnSpPr>
          <p:spPr>
            <a:xfrm flipH="1">
              <a:off x="3942734" y="4650656"/>
              <a:ext cx="6755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270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33E5-90E2-C7AE-0D3E-132C5306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A478-1F58-6323-C432-3CD55ACC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733" y="503324"/>
            <a:ext cx="9364590" cy="64053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ym typeface="Helvetica Neue"/>
              </a:rPr>
              <a:t>TEST STRATEGIES </a:t>
            </a:r>
            <a:br>
              <a:rPr lang="en-US" sz="3600" b="1" dirty="0">
                <a:sym typeface="Helvetica Neue"/>
              </a:rPr>
            </a:br>
            <a:r>
              <a:rPr lang="en-US" sz="3600" b="1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27F8C-3D3C-E51F-24C2-A41CC9E3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D4457-7411-8CB1-49B6-C031D8083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FA9A69F-2380-908E-8DB8-91CA07119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CDC015-8C58-8E92-DB10-4084CB98155E}"/>
              </a:ext>
            </a:extLst>
          </p:cNvPr>
          <p:cNvSpPr txBox="1"/>
          <p:nvPr/>
        </p:nvSpPr>
        <p:spPr>
          <a:xfrm>
            <a:off x="1415375" y="1349120"/>
            <a:ext cx="4680625" cy="54938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TEST ENVIRONMENT: MODEL-IN-THE-LOOP (MIL)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ACC control logic is implemented in Simulink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Vehicle dynamics and lead vehicle behavior are modeled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Parameters are varied using </a:t>
            </a:r>
            <a:r>
              <a:rPr lang="en-US" b="1" dirty="0"/>
              <a:t>Latin Hypercube Sampling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/>
              <a:t>Safety</a:t>
            </a:r>
            <a:r>
              <a:rPr lang="en-GB" dirty="0"/>
              <a:t>: </a:t>
            </a:r>
            <a:r>
              <a:rPr lang="en-GB" dirty="0" err="1"/>
              <a:t>TTC_min</a:t>
            </a:r>
            <a:r>
              <a:rPr lang="en-GB" dirty="0"/>
              <a:t>, </a:t>
            </a:r>
            <a:r>
              <a:rPr lang="en-GB" dirty="0" err="1"/>
              <a:t>viol_rate</a:t>
            </a:r>
            <a:r>
              <a:rPr lang="en-GB" dirty="0"/>
              <a:t>; Comfort/actuation: </a:t>
            </a:r>
            <a:r>
              <a:rPr lang="en-GB" dirty="0" err="1"/>
              <a:t>a_min</a:t>
            </a:r>
            <a:r>
              <a:rPr lang="en-GB" dirty="0"/>
              <a:t>, </a:t>
            </a:r>
            <a:r>
              <a:rPr lang="en-GB" dirty="0" err="1"/>
              <a:t>a_max</a:t>
            </a:r>
            <a:r>
              <a:rPr lang="en-GB" dirty="0"/>
              <a:t> </a:t>
            </a:r>
            <a:r>
              <a:rPr lang="en-US" dirty="0" smtClean="0"/>
              <a:t>are </a:t>
            </a:r>
            <a:r>
              <a:rPr lang="en-US" dirty="0"/>
              <a:t>extracted</a:t>
            </a:r>
            <a:r>
              <a:rPr lang="en-US" dirty="0" smtClean="0"/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04B37-5CDD-F095-37FE-50E7F49CEE9F}"/>
              </a:ext>
            </a:extLst>
          </p:cNvPr>
          <p:cNvSpPr txBox="1"/>
          <p:nvPr/>
        </p:nvSpPr>
        <p:spPr>
          <a:xfrm>
            <a:off x="6418544" y="1326822"/>
            <a:ext cx="5351071" cy="54938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REQUIREMENTS-BASED TESTING (FUNCTIONAL TEST)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 ACC, this checks: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Does ACC maintain the required time gap?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Does it brake when TTC becomes critical?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Does it respect speed setpoint limits?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 our project: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Requirements is  </a:t>
            </a:r>
            <a:r>
              <a:rPr lang="en-US" i="1" dirty="0" err="1"/>
              <a:t>TTC_min</a:t>
            </a:r>
            <a:r>
              <a:rPr lang="en-US" i="1" dirty="0"/>
              <a:t> ≥ threshold</a:t>
            </a:r>
            <a:r>
              <a:rPr lang="en-US" dirty="0"/>
              <a:t> and </a:t>
            </a:r>
            <a:r>
              <a:rPr lang="en-US" i="1" dirty="0" err="1"/>
              <a:t>violation_rate</a:t>
            </a:r>
            <a:r>
              <a:rPr lang="en-US" i="1" dirty="0"/>
              <a:t> ≤ limit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Failures indicate functional insufficiencies (SOTIF Type-2 scenarios </a:t>
            </a:r>
            <a:r>
              <a:rPr lang="en-US" dirty="0" err="1" smtClean="0"/>
              <a:t>i.e</a:t>
            </a:r>
            <a:r>
              <a:rPr lang="en-US" dirty="0" smtClean="0"/>
              <a:t> known </a:t>
            </a:r>
            <a:r>
              <a:rPr lang="en-US" dirty="0"/>
              <a:t>unsafe / Unknown unsafe)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4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63C14-5351-DF6C-ECDC-D921E007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A90F-E5F6-301D-FB7E-2BFAC1578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733" y="503324"/>
            <a:ext cx="9364590" cy="64053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ADAPTIVE CRUISE CONTROL (ACC) SYSTEMS </a:t>
            </a:r>
            <a:r>
              <a:rPr lang="en-US" sz="3600" b="1" dirty="0">
                <a:sym typeface="Helvetica Neue"/>
              </a:rPr>
              <a:t/>
            </a:r>
            <a:br>
              <a:rPr lang="en-US" sz="3600" b="1" dirty="0">
                <a:sym typeface="Helvetica Neue"/>
              </a:rPr>
            </a:br>
            <a:r>
              <a:rPr lang="en-US" sz="3600" b="1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5E951-E074-E344-BD1F-461D88B1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8C755-9201-8F48-6868-7CFDC072E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2771518-7FBD-50EB-3532-A071486F9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757684-DC51-AEDE-54AB-C05F0FFD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225" y="1349117"/>
            <a:ext cx="5630287" cy="36047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Maintains a set speed and safe distance to the lead vehicle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Adjusts acceleration and braking automatically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Key inputs: distance, relative speed, time gap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Safety </a:t>
            </a:r>
            <a:r>
              <a:rPr lang="en-GB" dirty="0" smtClean="0">
                <a:solidFill>
                  <a:srgbClr val="002060"/>
                </a:solidFill>
              </a:rPr>
              <a:t>depends </a:t>
            </a:r>
            <a:r>
              <a:rPr lang="en-GB" dirty="0">
                <a:solidFill>
                  <a:srgbClr val="002060"/>
                </a:solidFill>
              </a:rPr>
              <a:t>on driver-selected settings and controller/sensing assumptions</a:t>
            </a:r>
            <a:endParaRPr lang="en-US" sz="1401" b="1" dirty="0"/>
          </a:p>
          <a:p>
            <a:endParaRPr lang="en-US" sz="1401" dirty="0"/>
          </a:p>
          <a:p>
            <a:pPr lvl="1" algn="just">
              <a:buFont typeface="Arial" panose="020B0604020202020204" pitchFamily="34" charset="0"/>
              <a:buChar char="•"/>
            </a:pPr>
            <a:endParaRPr lang="en-US" sz="1401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B8EB131-B328-2B5E-BCAF-4A8B6D9F3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509" y="2105795"/>
            <a:ext cx="5133218" cy="237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38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8EF-E238-4F35-9ADD-0E64FE18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8591-99C6-4F21-79A3-C03E7DB4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733" y="503324"/>
            <a:ext cx="9364590" cy="64053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ADAPTIVE CRUISE CONTROLLER</a:t>
            </a:r>
            <a:r>
              <a:rPr lang="en-US" sz="3600" b="1" dirty="0">
                <a:sym typeface="Helvetica Neue"/>
              </a:rPr>
              <a:t/>
            </a:r>
            <a:br>
              <a:rPr lang="en-US" sz="3600" b="1" dirty="0">
                <a:sym typeface="Helvetica Neue"/>
              </a:rPr>
            </a:br>
            <a:r>
              <a:rPr lang="en-US" sz="3600" b="1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A0B36-D21E-5067-8F81-73E13446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898FC1-DCBC-322C-6E88-11766EB7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2D18766-6A3A-46D0-027F-E8A06D8AF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6918A4-4B82-B966-2F75-3ED790423134}"/>
              </a:ext>
            </a:extLst>
          </p:cNvPr>
          <p:cNvSpPr txBox="1"/>
          <p:nvPr/>
        </p:nvSpPr>
        <p:spPr>
          <a:xfrm>
            <a:off x="1493224" y="823590"/>
            <a:ext cx="3717874" cy="2718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Regulates longitudinal motion to maintain a safe distance behind the lead vehicle.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Switches naturally between speed control and distance control </a:t>
            </a:r>
            <a:r>
              <a:rPr lang="en-US" sz="1801" dirty="0" smtClean="0">
                <a:solidFill>
                  <a:srgbClr val="002060"/>
                </a:solidFill>
              </a:rPr>
              <a:t>mode. </a:t>
            </a:r>
            <a:r>
              <a:rPr lang="en-GB" sz="1801" dirty="0" smtClean="0">
                <a:solidFill>
                  <a:srgbClr val="002060"/>
                </a:solidFill>
              </a:rPr>
              <a:t>Switch </a:t>
            </a:r>
            <a:r>
              <a:rPr lang="en-GB" sz="1801" dirty="0">
                <a:solidFill>
                  <a:srgbClr val="002060"/>
                </a:solidFill>
              </a:rPr>
              <a:t>condition: if lead detected and gap &lt; desired then distance-control else speed-control</a:t>
            </a:r>
            <a:r>
              <a:rPr lang="en-US" sz="1801" dirty="0" smtClean="0">
                <a:solidFill>
                  <a:srgbClr val="002060"/>
                </a:solidFill>
              </a:rPr>
              <a:t>s</a:t>
            </a:r>
            <a:r>
              <a:rPr lang="en-US" sz="1401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F9949-8035-3FA0-0313-DC7EBDE9528B}"/>
                  </a:ext>
                </a:extLst>
              </p:cNvPr>
              <p:cNvSpPr txBox="1"/>
              <p:nvPr/>
            </p:nvSpPr>
            <p:spPr>
              <a:xfrm>
                <a:off x="2632817" y="3542411"/>
                <a:ext cx="4349117" cy="3338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801" b="1" dirty="0">
                    <a:solidFill>
                      <a:srgbClr val="002060"/>
                    </a:solidFill>
                  </a:rPr>
                  <a:t>Safe Distance Calculation</a:t>
                </a:r>
              </a:p>
              <a:p>
                <a:pPr marL="285753" indent="-285753" algn="just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>
                    <a:solidFill>
                      <a:srgbClr val="002060"/>
                    </a:solidFill>
                  </a:rPr>
                  <a:t>The controller computes a dynamic safe following distance: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1" i="1">
                              <a:latin typeface="Cambria Math" panose="02040503050406030204" pitchFamily="18" charset="0"/>
                            </a:rPr>
                            <m:t>safe</m:t>
                          </m:r>
                        </m:sub>
                      </m:sSub>
                      <m:r>
                        <a:rPr lang="ar-AE" sz="180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default</m:t>
                      </m:r>
                      <m:r>
                        <m:rPr>
                          <m:lit/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spacing</m:t>
                      </m:r>
                      <m:r>
                        <a:rPr lang="en-US" sz="180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lit/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801" i="1">
                          <a:latin typeface="Cambria Math" panose="02040503050406030204" pitchFamily="18" charset="0"/>
                        </a:rPr>
                        <m:t>gap</m:t>
                      </m:r>
                      <m:r>
                        <a:rPr lang="en-US" sz="180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𝑒𝑔𝑜</m:t>
                          </m:r>
                        </m:sub>
                      </m:sSub>
                    </m:oMath>
                  </m:oMathPara>
                </a14:m>
                <a:endParaRPr lang="ar-AE" sz="1801" dirty="0"/>
              </a:p>
              <a:p>
                <a:pPr marL="285753" indent="-285753" algn="just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>
                    <a:solidFill>
                      <a:srgbClr val="002060"/>
                    </a:solidFill>
                  </a:rPr>
                  <a:t>This increases with speed, ensuring human-like following behavior.</a:t>
                </a:r>
              </a:p>
              <a:p>
                <a:pPr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sz="1801" b="1" dirty="0">
                    <a:solidFill>
                      <a:srgbClr val="002060"/>
                    </a:solidFill>
                  </a:rPr>
                  <a:t>Error Signals</a:t>
                </a:r>
              </a:p>
              <a:p>
                <a:pPr marL="285753" indent="-285753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>
                    <a:solidFill>
                      <a:srgbClr val="002060"/>
                    </a:solidFill>
                  </a:rPr>
                  <a:t>Distance error (p̃):</a:t>
                </a:r>
                <a:br>
                  <a:rPr lang="en-US" sz="1801" dirty="0">
                    <a:solidFill>
                      <a:srgbClr val="002060"/>
                    </a:solidFill>
                  </a:rPr>
                </a:br>
                <a:r>
                  <a:rPr lang="en-US" sz="1801" dirty="0">
                    <a:solidFill>
                      <a:srgbClr val="002060"/>
                    </a:solidFill>
                  </a:rPr>
                  <a:t>Positive when the ego vehicle is too close.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F9949-8035-3FA0-0313-DC7EBDE95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817" y="3542411"/>
                <a:ext cx="4349117" cy="3338478"/>
              </a:xfrm>
              <a:prstGeom prst="rect">
                <a:avLst/>
              </a:prstGeom>
              <a:blipFill>
                <a:blip r:embed="rId5"/>
                <a:stretch>
                  <a:fillRect l="-2244" t="-912" r="-1122" b="-1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B793ED-8AC5-36AE-667D-FD6751E25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6450" y="1591738"/>
            <a:ext cx="5000703" cy="3206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673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FB6C-0AB9-41DC-44A6-C14E9DB4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C4D8-3889-669D-FFF8-4F403A04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733" y="503324"/>
            <a:ext cx="9364590" cy="64053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ADAPTIVE CRUISE CONTROLLER (Contd..)</a:t>
            </a:r>
            <a:r>
              <a:rPr lang="en-US" sz="3600" b="1" dirty="0">
                <a:sym typeface="Helvetica Neue"/>
              </a:rPr>
              <a:t/>
            </a:r>
            <a:br>
              <a:rPr lang="en-US" sz="3600" b="1" dirty="0">
                <a:sym typeface="Helvetica Neue"/>
              </a:rPr>
            </a:br>
            <a:r>
              <a:rPr lang="en-US" sz="3600" b="1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3FDE9-D5AC-0BC6-4B6B-A9106AE6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AC1BBA-E3A7-5B35-39C5-14CC06C2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9CF2A4B-DA7F-D2E5-FCC6-AA12D451F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68E200-9741-1D99-2945-8EF17E1C9604}"/>
                  </a:ext>
                </a:extLst>
              </p:cNvPr>
              <p:cNvSpPr txBox="1"/>
              <p:nvPr/>
            </p:nvSpPr>
            <p:spPr>
              <a:xfrm>
                <a:off x="1691150" y="896682"/>
                <a:ext cx="4404852" cy="3281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3" indent="-285753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b="1" dirty="0">
                    <a:solidFill>
                      <a:srgbClr val="002060"/>
                    </a:solidFill>
                  </a:rPr>
                  <a:t>Relative speed error:</a:t>
                </a:r>
                <a:r>
                  <a:rPr lang="en-US" sz="1801" dirty="0"/>
                  <a:t/>
                </a:r>
                <a:br>
                  <a:rPr lang="en-US" sz="1801" dirty="0"/>
                </a:br>
                <a:r>
                  <a:rPr lang="en-US" sz="1801" dirty="0" err="1"/>
                  <a:t>relVelocity</a:t>
                </a:r>
                <a:r>
                  <a:rPr lang="en-US" sz="1801" dirty="0"/>
                  <a:t> = </a:t>
                </a:r>
                <a:r>
                  <a:rPr lang="en-US" sz="1801" dirty="0" err="1"/>
                  <a:t>v_ego</a:t>
                </a:r>
                <a:r>
                  <a:rPr lang="en-US" sz="1801" dirty="0"/>
                  <a:t> − </a:t>
                </a:r>
                <a:r>
                  <a:rPr lang="en-US" sz="1801" dirty="0" err="1"/>
                  <a:t>v_lead</a:t>
                </a:r>
                <a:r>
                  <a:rPr lang="en-US" sz="1801" dirty="0"/>
                  <a:t/>
                </a:r>
                <a:br>
                  <a:rPr lang="en-US" sz="1801" dirty="0"/>
                </a:br>
                <a:r>
                  <a:rPr lang="en-US" sz="1801" dirty="0">
                    <a:solidFill>
                      <a:srgbClr val="002060"/>
                    </a:solidFill>
                  </a:rPr>
                  <a:t>Positive means closing in.</a:t>
                </a:r>
              </a:p>
              <a:p>
                <a:r>
                  <a:rPr lang="en-US" sz="1801" b="1" dirty="0">
                    <a:solidFill>
                      <a:srgbClr val="002060"/>
                    </a:solidFill>
                  </a:rPr>
                  <a:t>Controller Structure</a:t>
                </a:r>
              </a:p>
              <a:p>
                <a:pPr marL="285753" indent="-285753" algn="just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>
                    <a:solidFill>
                      <a:srgbClr val="002060"/>
                    </a:solidFill>
                  </a:rPr>
                  <a:t>Linear control law: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ar-AE" sz="180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sz="180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̃"/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ar-AE" sz="180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sz="1801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 sz="180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1801" i="1">
                          <a:latin typeface="Cambria Math" panose="02040503050406030204" pitchFamily="18" charset="0"/>
                        </a:rPr>
                        <m:t>𝑟𝑒𝑙𝑉𝑒𝑙𝑜𝑐𝑖𝑡𝑦</m:t>
                      </m:r>
                    </m:oMath>
                  </m:oMathPara>
                </a14:m>
                <a:endParaRPr lang="ar-AE" sz="1801" dirty="0"/>
              </a:p>
              <a:p>
                <a:pPr marL="285753" indent="-285753" algn="just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 err="1">
                    <a:solidFill>
                      <a:srgbClr val="002060"/>
                    </a:solidFill>
                  </a:rPr>
                  <a:t>k_p</a:t>
                </a:r>
                <a:r>
                  <a:rPr lang="en-US" sz="1801" dirty="0">
                    <a:solidFill>
                      <a:srgbClr val="002060"/>
                    </a:solidFill>
                  </a:rPr>
                  <a:t> controls how strongly distance error affects braking.</a:t>
                </a:r>
              </a:p>
              <a:p>
                <a:pPr marL="285753" indent="-285753" algn="just">
                  <a:spcBef>
                    <a:spcPct val="20000"/>
                  </a:spcBef>
                  <a:spcAft>
                    <a:spcPts val="601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</a:pPr>
                <a:r>
                  <a:rPr lang="en-US" sz="1801" dirty="0" err="1">
                    <a:solidFill>
                      <a:srgbClr val="002060"/>
                    </a:solidFill>
                  </a:rPr>
                  <a:t>k_v</a:t>
                </a:r>
                <a:r>
                  <a:rPr lang="en-US" sz="1801" dirty="0">
                    <a:solidFill>
                      <a:srgbClr val="002060"/>
                    </a:solidFill>
                  </a:rPr>
                  <a:t> controls reaction to speed differences.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68E200-9741-1D99-2945-8EF17E1C9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150" y="896682"/>
                <a:ext cx="4404852" cy="3281924"/>
              </a:xfrm>
              <a:prstGeom prst="rect">
                <a:avLst/>
              </a:prstGeom>
              <a:blipFill>
                <a:blip r:embed="rId5"/>
                <a:stretch>
                  <a:fillRect l="-2075" t="-4089" r="-1107" b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CC9C1D-B507-0D42-8C36-85C81759B105}"/>
              </a:ext>
            </a:extLst>
          </p:cNvPr>
          <p:cNvSpPr txBox="1"/>
          <p:nvPr/>
        </p:nvSpPr>
        <p:spPr>
          <a:xfrm>
            <a:off x="7051113" y="2635046"/>
            <a:ext cx="4699818" cy="3316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1" dirty="0"/>
          </a:p>
          <a:p>
            <a:r>
              <a:rPr lang="en-US" sz="1801" b="1" dirty="0">
                <a:solidFill>
                  <a:srgbClr val="002060"/>
                </a:solidFill>
              </a:rPr>
              <a:t>Lead Vehicle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If </a:t>
            </a:r>
            <a:r>
              <a:rPr lang="en-US" sz="1801" i="1" dirty="0" err="1">
                <a:latin typeface="Cambria Math" panose="02040503050406030204" pitchFamily="18" charset="0"/>
              </a:rPr>
              <a:t>relDistance</a:t>
            </a:r>
            <a:r>
              <a:rPr lang="en-US" sz="1801" i="1" dirty="0">
                <a:latin typeface="Cambria Math" panose="02040503050406030204" pitchFamily="18" charset="0"/>
              </a:rPr>
              <a:t> == 0</a:t>
            </a:r>
            <a:r>
              <a:rPr lang="en-US" sz="1801" dirty="0">
                <a:solidFill>
                  <a:srgbClr val="002060"/>
                </a:solidFill>
              </a:rPr>
              <a:t>, the controller assumes no valid lead vehicle and avoids abrupt </a:t>
            </a:r>
            <a:r>
              <a:rPr lang="en-US" sz="1801" dirty="0"/>
              <a:t>transitions.</a:t>
            </a:r>
          </a:p>
          <a:p>
            <a:pPr>
              <a:buNone/>
            </a:pPr>
            <a:r>
              <a:rPr lang="en-US" sz="1801" b="1" dirty="0">
                <a:solidFill>
                  <a:srgbClr val="002060"/>
                </a:solidFill>
              </a:rPr>
              <a:t>Acceleration Saturation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Physical limits:</a:t>
            </a:r>
          </a:p>
          <a:p>
            <a:pPr marL="742959" lvl="2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Max acceleration: +2.0 m/s²</a:t>
            </a:r>
          </a:p>
          <a:p>
            <a:pPr marL="742959" lvl="2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Max braking: –7.5 m/s²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GB" sz="1801" dirty="0" smtClean="0">
                <a:solidFill>
                  <a:srgbClr val="002060"/>
                </a:solidFill>
              </a:rPr>
              <a:t>Physical/emergency </a:t>
            </a:r>
            <a:r>
              <a:rPr lang="en-GB" sz="1801" dirty="0">
                <a:solidFill>
                  <a:srgbClr val="002060"/>
                </a:solidFill>
              </a:rPr>
              <a:t>bound; comfort bound handled via jerk/soft </a:t>
            </a:r>
            <a:r>
              <a:rPr lang="en-GB" sz="1801" dirty="0" smtClean="0">
                <a:solidFill>
                  <a:srgbClr val="002060"/>
                </a:solidFill>
              </a:rPr>
              <a:t>limit</a:t>
            </a:r>
            <a:r>
              <a:rPr lang="en-US" sz="1801" dirty="0" smtClean="0">
                <a:solidFill>
                  <a:srgbClr val="002060"/>
                </a:solidFill>
              </a:rPr>
              <a:t>.</a:t>
            </a:r>
            <a:endParaRPr lang="en-US" sz="1801" dirty="0"/>
          </a:p>
        </p:txBody>
      </p:sp>
    </p:spTree>
    <p:extLst>
      <p:ext uri="{BB962C8B-B14F-4D97-AF65-F5344CB8AC3E}">
        <p14:creationId xmlns:p14="http://schemas.microsoft.com/office/powerpoint/2010/main" val="2353721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A65D-C123-70D6-01D8-1C1A11B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7EB9-F385-80A2-9624-09DF4A72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613" y="25649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LATIN HYPERCUBE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161E6-01D7-9F20-01FA-8A0A0A33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FECD0-CCA4-C422-1F4F-76F6F41326EF}"/>
              </a:ext>
            </a:extLst>
          </p:cNvPr>
          <p:cNvSpPr txBox="1"/>
          <p:nvPr/>
        </p:nvSpPr>
        <p:spPr>
          <a:xfrm>
            <a:off x="1923851" y="1864370"/>
            <a:ext cx="7924974" cy="325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WHY LATIN HYPERCUBE SAMPLING (LHS)</a:t>
            </a:r>
            <a:r>
              <a:rPr lang="en-US" sz="2000" b="1" dirty="0">
                <a:solidFill>
                  <a:srgbClr val="002060"/>
                </a:solidFill>
              </a:rPr>
              <a:t>?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Efficient sampling of multi-dimensional parameter space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Ensures </a:t>
            </a:r>
            <a:r>
              <a:rPr lang="en-US" sz="2400" dirty="0" smtClean="0">
                <a:solidFill>
                  <a:srgbClr val="002060"/>
                </a:solidFill>
              </a:rPr>
              <a:t>better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coverage of parameter ranges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Avoids clustering seen in random sampling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smtClean="0">
                <a:solidFill>
                  <a:srgbClr val="002060"/>
                </a:solidFill>
              </a:rPr>
              <a:t>With </a:t>
            </a:r>
            <a:r>
              <a:rPr lang="en-US" sz="2400" dirty="0" smtClean="0">
                <a:solidFill>
                  <a:srgbClr val="002060"/>
                </a:solidFill>
              </a:rPr>
              <a:t>210 simulations, more </a:t>
            </a:r>
            <a:r>
              <a:rPr lang="en-US" sz="2400" dirty="0" smtClean="0">
                <a:solidFill>
                  <a:srgbClr val="002060"/>
                </a:solidFill>
              </a:rPr>
              <a:t>efficient than</a:t>
            </a:r>
            <a:r>
              <a:rPr lang="en-US" sz="2400" dirty="0" smtClean="0">
                <a:solidFill>
                  <a:srgbClr val="002060"/>
                </a:solidFill>
              </a:rPr>
              <a:t> thousands scenario.</a:t>
            </a:r>
            <a:endParaRPr lang="en-US" sz="2400" dirty="0">
              <a:solidFill>
                <a:srgbClr val="002060"/>
              </a:solidFill>
            </a:endParaRPr>
          </a:p>
          <a:p>
            <a:pPr lvl="1" algn="just"/>
            <a:endParaRPr lang="en-US" sz="180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54E00-2D26-426E-2A7D-ED2BECF26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23229FD-D0EC-DDD3-4164-20F63120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18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CBD76-6EDA-332A-E08A-A75B1291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BD8B6-A1C4-BEE8-32E6-5DF87429F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CF87BBC-D534-D874-C07F-7EDAB7825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C2E0B7C-C40E-0196-20D7-DFFA9B22A45D}"/>
              </a:ext>
            </a:extLst>
          </p:cNvPr>
          <p:cNvSpPr/>
          <p:nvPr/>
        </p:nvSpPr>
        <p:spPr>
          <a:xfrm>
            <a:off x="532352" y="598252"/>
            <a:ext cx="3072085" cy="15502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1" dirty="0">
                <a:solidFill>
                  <a:srgbClr val="002060"/>
                </a:solidFill>
              </a:rPr>
              <a:t>Input Handling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Accepts number of simulations N (default: 210)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Ensures Simulink model CCToACCFinal1 is loaded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C098C-AE6C-F108-5FA0-D18E0B72CAE9}"/>
              </a:ext>
            </a:extLst>
          </p:cNvPr>
          <p:cNvSpPr/>
          <p:nvPr/>
        </p:nvSpPr>
        <p:spPr>
          <a:xfrm>
            <a:off x="8658588" y="124971"/>
            <a:ext cx="3469578" cy="24968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1" dirty="0">
                <a:solidFill>
                  <a:srgbClr val="002060"/>
                </a:solidFill>
              </a:rPr>
              <a:t>Define Parameter Ranges</a:t>
            </a:r>
          </a:p>
          <a:p>
            <a:r>
              <a:rPr lang="en-US" sz="1401" dirty="0">
                <a:solidFill>
                  <a:srgbClr val="002060"/>
                </a:solidFill>
              </a:rPr>
              <a:t>The function sets min/max values for: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Speed setpoint (15–35 m/s)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Time gap (0.9–2.3 s)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Default spacing (2.5–7 m)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Vehicle mass (900–1600 kg)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Aerodynamic drag factor </a:t>
            </a:r>
            <a:r>
              <a:rPr lang="en-US" sz="1401" dirty="0" err="1" smtClean="0">
                <a:solidFill>
                  <a:srgbClr val="002060"/>
                </a:solidFill>
              </a:rPr>
              <a:t>Cd·Af</a:t>
            </a:r>
            <a:r>
              <a:rPr lang="en-US" sz="1401" dirty="0" smtClean="0">
                <a:solidFill>
                  <a:srgbClr val="002060"/>
                </a:solidFill>
              </a:rPr>
              <a:t> (</a:t>
            </a:r>
            <a:r>
              <a:rPr lang="en-US" sz="1401" dirty="0">
                <a:solidFill>
                  <a:srgbClr val="002060"/>
                </a:solidFill>
              </a:rPr>
              <a:t>0.25*1.8, </a:t>
            </a:r>
            <a:r>
              <a:rPr lang="en-US" sz="1401" dirty="0" smtClean="0">
                <a:solidFill>
                  <a:srgbClr val="002060"/>
                </a:solidFill>
              </a:rPr>
              <a:t>0.35*2.3)</a:t>
            </a:r>
            <a:endParaRPr lang="en-US" sz="1401" dirty="0">
              <a:solidFill>
                <a:srgbClr val="002060"/>
              </a:solidFill>
            </a:endParaRP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Rolling resistance coefficient Cr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Road slope </a:t>
            </a:r>
            <a:r>
              <a:rPr lang="el-GR" sz="1401" dirty="0">
                <a:solidFill>
                  <a:srgbClr val="002060"/>
                </a:solidFill>
              </a:rPr>
              <a:t>θ (–0.035 </a:t>
            </a:r>
            <a:r>
              <a:rPr lang="en-US" sz="1401" dirty="0">
                <a:solidFill>
                  <a:srgbClr val="002060"/>
                </a:solidFill>
              </a:rPr>
              <a:t>to +0.07 rad)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D61C1D-70AE-5478-5C9B-95DF7859166C}"/>
              </a:ext>
            </a:extLst>
          </p:cNvPr>
          <p:cNvSpPr/>
          <p:nvPr/>
        </p:nvSpPr>
        <p:spPr>
          <a:xfrm>
            <a:off x="4764297" y="573988"/>
            <a:ext cx="3151490" cy="1598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>
                <a:solidFill>
                  <a:srgbClr val="002060"/>
                </a:solidFill>
              </a:rPr>
              <a:t>Latin Hypercube Sampling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Generate an N × 7 matrix of LHS samples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Convert normalized values into physical parameter values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Ensures even coverage of multidimensional parameter space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10CF9E-A0C8-1D37-6805-ACC084FC618F}"/>
              </a:ext>
            </a:extLst>
          </p:cNvPr>
          <p:cNvSpPr/>
          <p:nvPr/>
        </p:nvSpPr>
        <p:spPr>
          <a:xfrm>
            <a:off x="642149" y="3333521"/>
            <a:ext cx="3289147" cy="30034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1" dirty="0">
                <a:solidFill>
                  <a:srgbClr val="002060"/>
                </a:solidFill>
              </a:rPr>
              <a:t>Main Simulation Loop</a:t>
            </a:r>
          </a:p>
          <a:p>
            <a:r>
              <a:rPr lang="en-US" sz="1401" dirty="0">
                <a:solidFill>
                  <a:srgbClr val="002060"/>
                </a:solidFill>
              </a:rPr>
              <a:t>For each of the N simulations:</a:t>
            </a:r>
          </a:p>
          <a:p>
            <a:pPr marL="342903" indent="-342903">
              <a:buFont typeface="+mj-lt"/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Assign sampled parameters to MATLAB base workspace </a:t>
            </a:r>
          </a:p>
          <a:p>
            <a:pPr marL="342903" indent="-342903">
              <a:buFont typeface="+mj-lt"/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Run the Simulink model for 40 seconds</a:t>
            </a:r>
          </a:p>
          <a:p>
            <a:pPr marL="342903" indent="-342903">
              <a:buFont typeface="+mj-lt"/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Retrieve KPI signals from the output</a:t>
            </a:r>
          </a:p>
          <a:p>
            <a:pPr marL="342903" indent="-342903">
              <a:buFont typeface="+mj-lt"/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Interpret KPIs from timeseries or numeric data</a:t>
            </a:r>
          </a:p>
          <a:p>
            <a:pPr marL="342903" indent="-342903">
              <a:buFont typeface="+mj-lt"/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Speeds up repeated simulations by avoiding recompilation</a:t>
            </a:r>
          </a:p>
          <a:p>
            <a:pPr marL="342903" indent="-342903">
              <a:buFont typeface="+mj-lt"/>
              <a:buAutoNum type="arabicPeriod"/>
            </a:pPr>
            <a:endParaRPr lang="en-US" sz="1401" dirty="0">
              <a:solidFill>
                <a:srgbClr val="00206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6063DC-D6EF-7588-E3ED-9C0479C3ABC1}"/>
              </a:ext>
            </a:extLst>
          </p:cNvPr>
          <p:cNvSpPr/>
          <p:nvPr/>
        </p:nvSpPr>
        <p:spPr>
          <a:xfrm>
            <a:off x="4764297" y="2994921"/>
            <a:ext cx="4113401" cy="36806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1" b="1" dirty="0"/>
              <a:t> </a:t>
            </a:r>
            <a:r>
              <a:rPr lang="en-US" sz="1801" dirty="0">
                <a:solidFill>
                  <a:srgbClr val="002060"/>
                </a:solidFill>
              </a:rPr>
              <a:t>KPI Extraction Details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401" dirty="0" err="1">
                <a:solidFill>
                  <a:srgbClr val="002060"/>
                </a:solidFill>
              </a:rPr>
              <a:t>TTC_min</a:t>
            </a:r>
            <a:r>
              <a:rPr lang="en-US" sz="1401" dirty="0">
                <a:solidFill>
                  <a:srgbClr val="002060"/>
                </a:solidFill>
              </a:rPr>
              <a:t> → last value of </a:t>
            </a:r>
            <a:r>
              <a:rPr lang="en-US" sz="1401" dirty="0" smtClean="0">
                <a:solidFill>
                  <a:srgbClr val="002060"/>
                </a:solidFill>
              </a:rPr>
              <a:t>TTC </a:t>
            </a:r>
            <a:r>
              <a:rPr lang="en-US" sz="1401" dirty="0">
                <a:solidFill>
                  <a:srgbClr val="002060"/>
                </a:solidFill>
              </a:rPr>
              <a:t>signal (worst-case TTC)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401" dirty="0" err="1">
                <a:solidFill>
                  <a:srgbClr val="002060"/>
                </a:solidFill>
              </a:rPr>
              <a:t>viol_rate</a:t>
            </a:r>
            <a:r>
              <a:rPr lang="en-US" sz="1401" dirty="0">
                <a:solidFill>
                  <a:srgbClr val="002060"/>
                </a:solidFill>
              </a:rPr>
              <a:t> → final violation metric from KPI block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401" dirty="0" err="1">
                <a:solidFill>
                  <a:srgbClr val="002060"/>
                </a:solidFill>
              </a:rPr>
              <a:t>a_max</a:t>
            </a:r>
            <a:r>
              <a:rPr lang="en-US" sz="1401" dirty="0">
                <a:solidFill>
                  <a:srgbClr val="002060"/>
                </a:solidFill>
              </a:rPr>
              <a:t> → highest acceleration during simulation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401" dirty="0" err="1">
                <a:solidFill>
                  <a:srgbClr val="002060"/>
                </a:solidFill>
              </a:rPr>
              <a:t>a_min</a:t>
            </a:r>
            <a:r>
              <a:rPr lang="en-US" sz="1401" dirty="0">
                <a:solidFill>
                  <a:srgbClr val="002060"/>
                </a:solidFill>
              </a:rPr>
              <a:t> → strongest braking during simulation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endParaRPr lang="en-US" sz="1401" dirty="0">
              <a:solidFill>
                <a:srgbClr val="002060"/>
              </a:solidFill>
            </a:endParaRPr>
          </a:p>
          <a:p>
            <a:r>
              <a:rPr lang="en-US" sz="1801" dirty="0" err="1">
                <a:solidFill>
                  <a:srgbClr val="002060"/>
                </a:solidFill>
              </a:rPr>
              <a:t>Preallocate</a:t>
            </a:r>
            <a:r>
              <a:rPr lang="en-US" sz="1801" dirty="0">
                <a:solidFill>
                  <a:srgbClr val="002060"/>
                </a:solidFill>
              </a:rPr>
              <a:t> Results Structure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Creates </a:t>
            </a:r>
            <a:r>
              <a:rPr lang="en-US" sz="1401" dirty="0" err="1">
                <a:solidFill>
                  <a:srgbClr val="002060"/>
                </a:solidFill>
              </a:rPr>
              <a:t>resultsLHS</a:t>
            </a:r>
            <a:r>
              <a:rPr lang="en-US" sz="1401" dirty="0">
                <a:solidFill>
                  <a:srgbClr val="002060"/>
                </a:solidFill>
              </a:rPr>
              <a:t>(N,1) with fields: </a:t>
            </a:r>
            <a:r>
              <a:rPr lang="en-US" sz="1401" dirty="0" err="1">
                <a:solidFill>
                  <a:srgbClr val="002060"/>
                </a:solidFill>
              </a:rPr>
              <a:t>v_set</a:t>
            </a:r>
            <a:r>
              <a:rPr lang="en-US" sz="1401" dirty="0">
                <a:solidFill>
                  <a:srgbClr val="002060"/>
                </a:solidFill>
              </a:rPr>
              <a:t>, </a:t>
            </a:r>
            <a:r>
              <a:rPr lang="en-US" sz="1401" dirty="0" err="1">
                <a:solidFill>
                  <a:srgbClr val="002060"/>
                </a:solidFill>
              </a:rPr>
              <a:t>time_gap</a:t>
            </a:r>
            <a:r>
              <a:rPr lang="en-US" sz="1401" dirty="0">
                <a:solidFill>
                  <a:srgbClr val="002060"/>
                </a:solidFill>
              </a:rPr>
              <a:t>, </a:t>
            </a:r>
            <a:r>
              <a:rPr lang="en-US" sz="1401" dirty="0" err="1">
                <a:solidFill>
                  <a:srgbClr val="002060"/>
                </a:solidFill>
              </a:rPr>
              <a:t>default_spacing</a:t>
            </a:r>
            <a:r>
              <a:rPr lang="en-US" sz="1401" dirty="0">
                <a:solidFill>
                  <a:srgbClr val="002060"/>
                </a:solidFill>
              </a:rPr>
              <a:t>, m, </a:t>
            </a:r>
            <a:r>
              <a:rPr lang="en-US" sz="1401" dirty="0" err="1">
                <a:solidFill>
                  <a:srgbClr val="002060"/>
                </a:solidFill>
              </a:rPr>
              <a:t>Cd_air</a:t>
            </a:r>
            <a:r>
              <a:rPr lang="en-US" sz="1401" dirty="0">
                <a:solidFill>
                  <a:srgbClr val="002060"/>
                </a:solidFill>
              </a:rPr>
              <a:t>, Cr, </a:t>
            </a:r>
            <a:r>
              <a:rPr lang="en-US" sz="1401" dirty="0" err="1">
                <a:solidFill>
                  <a:srgbClr val="002060"/>
                </a:solidFill>
              </a:rPr>
              <a:t>theta,TTC_min</a:t>
            </a:r>
            <a:r>
              <a:rPr lang="en-US" sz="1401" dirty="0">
                <a:solidFill>
                  <a:srgbClr val="002060"/>
                </a:solidFill>
              </a:rPr>
              <a:t>, </a:t>
            </a:r>
            <a:r>
              <a:rPr lang="en-US" sz="1401" dirty="0" err="1">
                <a:solidFill>
                  <a:srgbClr val="002060"/>
                </a:solidFill>
              </a:rPr>
              <a:t>viol_rate</a:t>
            </a:r>
            <a:r>
              <a:rPr lang="en-US" sz="1401" dirty="0">
                <a:solidFill>
                  <a:srgbClr val="002060"/>
                </a:solidFill>
              </a:rPr>
              <a:t>, </a:t>
            </a:r>
            <a:r>
              <a:rPr lang="en-US" sz="1401" dirty="0" err="1">
                <a:solidFill>
                  <a:srgbClr val="002060"/>
                </a:solidFill>
              </a:rPr>
              <a:t>a_max</a:t>
            </a:r>
            <a:r>
              <a:rPr lang="en-US" sz="1401" dirty="0">
                <a:solidFill>
                  <a:srgbClr val="002060"/>
                </a:solidFill>
              </a:rPr>
              <a:t>, </a:t>
            </a:r>
            <a:r>
              <a:rPr lang="en-US" sz="1401" dirty="0" err="1">
                <a:solidFill>
                  <a:srgbClr val="002060"/>
                </a:solidFill>
              </a:rPr>
              <a:t>a_min</a:t>
            </a:r>
            <a:endParaRPr lang="en-US" sz="1401" dirty="0">
              <a:solidFill>
                <a:srgbClr val="002060"/>
              </a:solidFill>
            </a:endParaRP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This improves performance and organizes final results.</a:t>
            </a:r>
          </a:p>
          <a:p>
            <a:endParaRPr lang="en-US" sz="1401" dirty="0">
              <a:solidFill>
                <a:srgbClr val="00206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0A9284-A79D-A8DC-C485-1F5ACA86E1B4}"/>
              </a:ext>
            </a:extLst>
          </p:cNvPr>
          <p:cNvSpPr/>
          <p:nvPr/>
        </p:nvSpPr>
        <p:spPr>
          <a:xfrm>
            <a:off x="9215437" y="3761350"/>
            <a:ext cx="2841708" cy="21478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1" b="1" dirty="0"/>
              <a:t> </a:t>
            </a:r>
            <a:r>
              <a:rPr lang="en-US" sz="1801" dirty="0">
                <a:solidFill>
                  <a:srgbClr val="002060"/>
                </a:solidFill>
              </a:rPr>
              <a:t>Post-Processing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Converts struct to table using struct2table()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Prints the table to the console</a:t>
            </a:r>
          </a:p>
          <a:p>
            <a:pPr marL="342903" indent="-342903">
              <a:buAutoNum type="arabicPeriod"/>
            </a:pPr>
            <a:r>
              <a:rPr lang="en-US" sz="1401" dirty="0">
                <a:solidFill>
                  <a:srgbClr val="002060"/>
                </a:solidFill>
              </a:rPr>
              <a:t>Exports results to base workspace (</a:t>
            </a:r>
            <a:r>
              <a:rPr lang="en-US" sz="1401" dirty="0" err="1">
                <a:solidFill>
                  <a:srgbClr val="002060"/>
                </a:solidFill>
              </a:rPr>
              <a:t>resultsLHS</a:t>
            </a:r>
            <a:r>
              <a:rPr lang="en-US" sz="1401" dirty="0">
                <a:solidFill>
                  <a:srgbClr val="002060"/>
                </a:solidFill>
              </a:rPr>
              <a:t>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0908351-3F2C-89D3-A529-255EB6B2A47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3604437" y="1373377"/>
            <a:ext cx="115986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390C9F-80D7-07EB-3A5C-E546A69C1733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7915787" y="1373376"/>
            <a:ext cx="74280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2ADBF0D-C469-235E-9EFC-199A4DCFBDC8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rot="5400000">
            <a:off x="5984180" y="-1075677"/>
            <a:ext cx="711741" cy="810665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DB4D46-1337-4661-7ECA-56846550BB01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3931296" y="4835259"/>
            <a:ext cx="83300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968FE4-4CE6-7365-323B-D4EBBA5E54BF}"/>
              </a:ext>
            </a:extLst>
          </p:cNvPr>
          <p:cNvCxnSpPr>
            <a:cxnSpLocks/>
            <a:stCxn id="19" idx="3"/>
            <a:endCxn id="50" idx="1"/>
          </p:cNvCxnSpPr>
          <p:nvPr/>
        </p:nvCxnSpPr>
        <p:spPr>
          <a:xfrm>
            <a:off x="8877698" y="4835259"/>
            <a:ext cx="337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26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FB6A4-32FF-1053-817B-40576175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B334BA-3416-3A50-EDDD-CCEAA532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266" y="5"/>
            <a:ext cx="6307215" cy="916858"/>
          </a:xfrm>
        </p:spPr>
        <p:txBody>
          <a:bodyPr/>
          <a:lstStyle/>
          <a:p>
            <a:r>
              <a:rPr lang="en-US" sz="3600" b="1" dirty="0"/>
              <a:t>KEY PARAMETER INDEX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BDDF2C-C78C-C5AC-4A70-1748EE213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B1FC8725-AD93-B759-057E-C2C0896E0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D3E68C-B1BC-F38F-36FA-D81528196013}"/>
              </a:ext>
            </a:extLst>
          </p:cNvPr>
          <p:cNvSpPr txBox="1"/>
          <p:nvPr/>
        </p:nvSpPr>
        <p:spPr>
          <a:xfrm>
            <a:off x="1835830" y="1318730"/>
            <a:ext cx="5626857" cy="510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KPI Block: What We Measure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TTC (Time-To-Collision): instantaneous collision risk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 err="1">
                <a:solidFill>
                  <a:srgbClr val="002060"/>
                </a:solidFill>
              </a:rPr>
              <a:t>TTC_min</a:t>
            </a:r>
            <a:r>
              <a:rPr lang="en-US" sz="1801" dirty="0">
                <a:solidFill>
                  <a:srgbClr val="002060"/>
                </a:solidFill>
              </a:rPr>
              <a:t>: minimum TTC during interaction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Violation Rate: how </a:t>
            </a:r>
            <a:r>
              <a:rPr lang="en-US" sz="1801" dirty="0" smtClean="0">
                <a:solidFill>
                  <a:srgbClr val="002060"/>
                </a:solidFill>
              </a:rPr>
              <a:t>long/deep the safe </a:t>
            </a:r>
            <a:r>
              <a:rPr lang="en-US" sz="1801" dirty="0">
                <a:solidFill>
                  <a:srgbClr val="002060"/>
                </a:solidFill>
              </a:rPr>
              <a:t>distance was </a:t>
            </a:r>
            <a:r>
              <a:rPr lang="en-US" sz="1801" dirty="0">
                <a:solidFill>
                  <a:srgbClr val="002060"/>
                </a:solidFill>
              </a:rPr>
              <a:t>violated </a:t>
            </a:r>
            <a:r>
              <a:rPr lang="en-US" sz="1801" dirty="0" smtClean="0">
                <a:solidFill>
                  <a:srgbClr val="002060"/>
                </a:solidFill>
              </a:rPr>
              <a:t>(rate </a:t>
            </a:r>
            <a:r>
              <a:rPr lang="en-US" sz="1801" dirty="0">
                <a:solidFill>
                  <a:srgbClr val="002060"/>
                </a:solidFill>
              </a:rPr>
              <a:t>= </a:t>
            </a:r>
            <a:r>
              <a:rPr lang="en-US" sz="1801" dirty="0" err="1">
                <a:solidFill>
                  <a:srgbClr val="002060"/>
                </a:solidFill>
              </a:rPr>
              <a:t>time_fraction</a:t>
            </a:r>
            <a:r>
              <a:rPr lang="en-US" sz="1801" dirty="0">
                <a:solidFill>
                  <a:srgbClr val="002060"/>
                </a:solidFill>
              </a:rPr>
              <a:t>(distance &lt; </a:t>
            </a:r>
            <a:r>
              <a:rPr lang="en-US" sz="1801" dirty="0" err="1">
                <a:solidFill>
                  <a:srgbClr val="002060"/>
                </a:solidFill>
              </a:rPr>
              <a:t>d_safe</a:t>
            </a:r>
            <a:r>
              <a:rPr lang="en-US" sz="1801" dirty="0">
                <a:solidFill>
                  <a:srgbClr val="002060"/>
                </a:solidFill>
              </a:rPr>
              <a:t>) (</a:t>
            </a:r>
            <a:r>
              <a:rPr lang="en-US" sz="1801" dirty="0" smtClean="0">
                <a:solidFill>
                  <a:srgbClr val="002060"/>
                </a:solidFill>
              </a:rPr>
              <a:t>severity </a:t>
            </a:r>
            <a:r>
              <a:rPr lang="en-US" sz="1801" dirty="0">
                <a:solidFill>
                  <a:srgbClr val="002060"/>
                </a:solidFill>
              </a:rPr>
              <a:t>= mean/max(</a:t>
            </a:r>
            <a:r>
              <a:rPr lang="en-US" sz="1801" dirty="0" err="1">
                <a:solidFill>
                  <a:srgbClr val="002060"/>
                </a:solidFill>
              </a:rPr>
              <a:t>d_safe</a:t>
            </a:r>
            <a:r>
              <a:rPr lang="en-US" sz="1801" dirty="0">
                <a:solidFill>
                  <a:srgbClr val="002060"/>
                </a:solidFill>
              </a:rPr>
              <a:t> - distance</a:t>
            </a:r>
            <a:r>
              <a:rPr lang="en-US" sz="1801" dirty="0" smtClean="0">
                <a:solidFill>
                  <a:srgbClr val="002060"/>
                </a:solidFill>
              </a:rPr>
              <a:t>)+) </a:t>
            </a:r>
            <a:endParaRPr lang="en-US" sz="1801" dirty="0">
              <a:solidFill>
                <a:srgbClr val="002060"/>
              </a:solidFill>
            </a:endParaRP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 err="1">
                <a:solidFill>
                  <a:srgbClr val="002060"/>
                </a:solidFill>
              </a:rPr>
              <a:t>a_max</a:t>
            </a:r>
            <a:r>
              <a:rPr lang="en-US" sz="1801" dirty="0">
                <a:solidFill>
                  <a:srgbClr val="002060"/>
                </a:solidFill>
              </a:rPr>
              <a:t> / </a:t>
            </a:r>
            <a:r>
              <a:rPr lang="en-US" sz="1801" dirty="0" err="1">
                <a:solidFill>
                  <a:srgbClr val="002060"/>
                </a:solidFill>
              </a:rPr>
              <a:t>a_min</a:t>
            </a:r>
            <a:r>
              <a:rPr lang="en-US" sz="1801" dirty="0">
                <a:solidFill>
                  <a:srgbClr val="002060"/>
                </a:solidFill>
              </a:rPr>
              <a:t>: max acceleration &amp; max braking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Uses persistent states to track metrics over entire run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Considers both duration and severity of unsafe situations (distance &lt; </a:t>
            </a:r>
            <a:r>
              <a:rPr lang="en-US" sz="1801" dirty="0" err="1">
                <a:solidFill>
                  <a:srgbClr val="002060"/>
                </a:solidFill>
              </a:rPr>
              <a:t>d_safe</a:t>
            </a:r>
            <a:r>
              <a:rPr lang="en-US" sz="1801" dirty="0">
                <a:solidFill>
                  <a:srgbClr val="002060"/>
                </a:solidFill>
              </a:rPr>
              <a:t>)</a:t>
            </a: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Ignores unrealistic TTC values using validity bounds and interaction </a:t>
            </a:r>
            <a:r>
              <a:rPr lang="en-US" sz="1801" dirty="0" smtClean="0">
                <a:solidFill>
                  <a:srgbClr val="002060"/>
                </a:solidFill>
              </a:rPr>
              <a:t>zone (</a:t>
            </a:r>
            <a:r>
              <a:rPr lang="en-US" sz="1801" dirty="0">
                <a:solidFill>
                  <a:srgbClr val="002060"/>
                </a:solidFill>
              </a:rPr>
              <a:t>valid TTC when </a:t>
            </a:r>
            <a:r>
              <a:rPr lang="en-US" sz="1801" dirty="0" err="1" smtClean="0">
                <a:solidFill>
                  <a:srgbClr val="002060"/>
                </a:solidFill>
              </a:rPr>
              <a:t>relSpeed</a:t>
            </a:r>
            <a:r>
              <a:rPr lang="en-US" sz="1801" dirty="0" smtClean="0">
                <a:solidFill>
                  <a:srgbClr val="002060"/>
                </a:solidFill>
              </a:rPr>
              <a:t>&lt; 0)</a:t>
            </a:r>
            <a:endParaRPr lang="en-US" sz="1801" dirty="0">
              <a:solidFill>
                <a:srgbClr val="002060"/>
              </a:solidFill>
            </a:endParaRPr>
          </a:p>
          <a:p>
            <a:pPr marL="285753" indent="-285753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Produces final scalar KPIs that are stored in </a:t>
            </a:r>
            <a:r>
              <a:rPr lang="en-US" sz="1801" dirty="0" err="1">
                <a:solidFill>
                  <a:srgbClr val="002060"/>
                </a:solidFill>
              </a:rPr>
              <a:t>resultsLHS</a:t>
            </a:r>
            <a:r>
              <a:rPr lang="en-US" sz="1801" dirty="0">
                <a:solidFill>
                  <a:srgbClr val="002060"/>
                </a:solidFill>
              </a:rPr>
              <a:t> for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6FC6D-6E72-7647-0512-73C50172248D}"/>
              </a:ext>
            </a:extLst>
          </p:cNvPr>
          <p:cNvSpPr/>
          <p:nvPr/>
        </p:nvSpPr>
        <p:spPr>
          <a:xfrm>
            <a:off x="9148917" y="1318730"/>
            <a:ext cx="1936954" cy="469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22254-E8F5-D80E-8516-BB4E6E9A4D0D}"/>
              </a:ext>
            </a:extLst>
          </p:cNvPr>
          <p:cNvSpPr/>
          <p:nvPr/>
        </p:nvSpPr>
        <p:spPr>
          <a:xfrm>
            <a:off x="9148917" y="2189540"/>
            <a:ext cx="1936954" cy="469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TTC Calculation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49CFD7-EA77-1C2A-C3F7-4385F2F21BA2}"/>
              </a:ext>
            </a:extLst>
          </p:cNvPr>
          <p:cNvSpPr/>
          <p:nvPr/>
        </p:nvSpPr>
        <p:spPr>
          <a:xfrm>
            <a:off x="9163666" y="3110585"/>
            <a:ext cx="1936954" cy="469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Violation Logic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DDC43-3153-3E3E-BD49-44420BDFC765}"/>
              </a:ext>
            </a:extLst>
          </p:cNvPr>
          <p:cNvSpPr/>
          <p:nvPr/>
        </p:nvSpPr>
        <p:spPr>
          <a:xfrm>
            <a:off x="9163666" y="4114619"/>
            <a:ext cx="1936954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Acceleration Extremes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1A14E-3821-B2B7-6B31-81B06467C405}"/>
              </a:ext>
            </a:extLst>
          </p:cNvPr>
          <p:cNvSpPr/>
          <p:nvPr/>
        </p:nvSpPr>
        <p:spPr>
          <a:xfrm>
            <a:off x="9163666" y="5174153"/>
            <a:ext cx="1936954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1" dirty="0"/>
              <a:t>Outputs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F0292C-E54A-603B-3932-2CD5D09B28A7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0117394" y="1788216"/>
            <a:ext cx="0" cy="4013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7240CB-A1D1-73A5-87FE-FC1371C057F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117394" y="2659029"/>
            <a:ext cx="0" cy="4703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1EA9D6-4A80-F919-8F62-7891DA84CE2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132142" y="3580071"/>
            <a:ext cx="0" cy="5345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6C97E8-A0A1-06F5-A777-6C9DCA657B8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132142" y="4760948"/>
            <a:ext cx="0" cy="413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984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734B-2625-D698-6953-08A2C672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95E6-CA60-F6D5-F40E-E1568B79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/>
          </a:bodyPr>
          <a:lstStyle/>
          <a:p>
            <a:r>
              <a:rPr lang="en-US" sz="3600" b="1" dirty="0"/>
              <a:t>RESULTS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7CF9E9-F9A7-A49F-586C-C9F4F1417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2FDCB31-64DA-7672-B4A8-60282BC3C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C3AEEA-0B4A-7F66-19E3-7A5B2364F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112" y="1327177"/>
            <a:ext cx="10574033" cy="48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2B3B-C3A1-8532-4881-8536991F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46E-EB36-7C4C-FBB0-83A3B1CD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RESULTS </a:t>
            </a:r>
            <a:r>
              <a:rPr lang="en-US" sz="2400" b="1" dirty="0"/>
              <a:t>(Contd..)</a:t>
            </a:r>
            <a:r>
              <a:rPr lang="en-US" sz="2400" b="1" dirty="0">
                <a:sym typeface="Helvetica Neue"/>
              </a:rPr>
              <a:t/>
            </a:r>
            <a:br>
              <a:rPr lang="en-US" sz="2400" b="1" dirty="0">
                <a:sym typeface="Helvetica Neue"/>
              </a:rPr>
            </a:b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10DCD-4CA5-330C-31E2-E9D26BA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24A31C-5594-9F19-4348-7F88F605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7CD6EB7-4FC3-9A54-F211-A9E3553D1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F9D60-5570-EE20-64E1-891D8E542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571" y="598250"/>
            <a:ext cx="10656433" cy="1236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1F4717-FB33-1758-CC15-F4C02C38DF70}"/>
              </a:ext>
            </a:extLst>
          </p:cNvPr>
          <p:cNvSpPr txBox="1"/>
          <p:nvPr/>
        </p:nvSpPr>
        <p:spPr>
          <a:xfrm>
            <a:off x="1744590" y="1956778"/>
            <a:ext cx="3033161" cy="13849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LHS spreads speed values evenly across the entire range</a:t>
            </a:r>
          </a:p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No clustering → good coverage of speed scenarios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:Speed sampling is well-distributed, enabling robust safety evaluation.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599D3-C994-931F-202B-A4375F6B32C8}"/>
              </a:ext>
            </a:extLst>
          </p:cNvPr>
          <p:cNvSpPr txBox="1"/>
          <p:nvPr/>
        </p:nvSpPr>
        <p:spPr>
          <a:xfrm>
            <a:off x="5428663" y="1956778"/>
            <a:ext cx="3033161" cy="13849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Good coverage across all human-like following gaps</a:t>
            </a:r>
          </a:p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Higher density between 1.3–1.8 s, which is realistic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:Time gap samples cover both unsafe (small) and safe (large) regions evenly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4FBAC-82FF-8B97-380F-9BBFD7561D75}"/>
              </a:ext>
            </a:extLst>
          </p:cNvPr>
          <p:cNvSpPr txBox="1"/>
          <p:nvPr/>
        </p:nvSpPr>
        <p:spPr>
          <a:xfrm>
            <a:off x="8930833" y="1937264"/>
            <a:ext cx="3033161" cy="13849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Even sampling of close and far spacing settings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:Allows testing of ACC behavior from short to long baseline spacing.</a:t>
            </a:r>
          </a:p>
          <a:p>
            <a:pPr algn="just"/>
            <a:endParaRPr lang="en-US" sz="1200" b="1" dirty="0">
              <a:ln>
                <a:solidFill>
                  <a:srgbClr val="FF0000"/>
                </a:solidFill>
              </a:ln>
            </a:endParaRPr>
          </a:p>
          <a:p>
            <a:pPr algn="just"/>
            <a:endParaRPr lang="en-US" sz="1200" b="1" dirty="0">
              <a:ln>
                <a:solidFill>
                  <a:srgbClr val="FF0000"/>
                </a:solidFill>
              </a:ln>
            </a:endParaRP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 </a:t>
            </a:r>
          </a:p>
        </p:txBody>
      </p:sp>
      <p:pic>
        <p:nvPicPr>
          <p:cNvPr id="15" name="Picture 14" descr="A diagram of a blue arch&#10;&#10;AI-generated content may be incorrect.">
            <a:extLst>
              <a:ext uri="{FF2B5EF4-FFF2-40B4-BE49-F238E27FC236}">
                <a16:creationId xmlns:a16="http://schemas.microsoft.com/office/drawing/2014/main" id="{6254B734-6973-3B5F-267B-08B668180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892" y="3424968"/>
            <a:ext cx="10691787" cy="13869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066E36-1D92-E22F-15E5-8D22DFA1FF2B}"/>
              </a:ext>
            </a:extLst>
          </p:cNvPr>
          <p:cNvSpPr txBox="1"/>
          <p:nvPr/>
        </p:nvSpPr>
        <p:spPr>
          <a:xfrm>
            <a:off x="1744590" y="5017355"/>
            <a:ext cx="3033161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Covers small, medium, and large vehicle masses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:Ensures simulation includes light cars and heavier SUVs/EVs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C93A19-D6A3-4BB6-DFF7-7ABF59DCA48D}"/>
              </a:ext>
            </a:extLst>
          </p:cNvPr>
          <p:cNvSpPr txBox="1"/>
          <p:nvPr/>
        </p:nvSpPr>
        <p:spPr>
          <a:xfrm>
            <a:off x="5428663" y="5035438"/>
            <a:ext cx="3033161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Mid-range aero conditions sampled more often.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:Captures variability from sleek sedans to boxy SUVs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338C2-2B45-AC0B-6848-0853AB770F5F}"/>
              </a:ext>
            </a:extLst>
          </p:cNvPr>
          <p:cNvSpPr txBox="1"/>
          <p:nvPr/>
        </p:nvSpPr>
        <p:spPr>
          <a:xfrm>
            <a:off x="8930833" y="5047426"/>
            <a:ext cx="3033161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dirty="0"/>
              <a:t>Includes downhill, flat, and uphill segments</a:t>
            </a:r>
          </a:p>
          <a:p>
            <a:pPr algn="just"/>
            <a:r>
              <a:rPr lang="en-US" sz="1200" b="1" dirty="0" err="1">
                <a:ln>
                  <a:solidFill>
                    <a:srgbClr val="FF0000"/>
                  </a:solidFill>
                </a:ln>
              </a:rPr>
              <a:t>Inference:Realistic</a:t>
            </a:r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 slope effects included for dynamic load variation</a:t>
            </a:r>
          </a:p>
        </p:txBody>
      </p:sp>
    </p:spTree>
    <p:extLst>
      <p:ext uri="{BB962C8B-B14F-4D97-AF65-F5344CB8AC3E}">
        <p14:creationId xmlns:p14="http://schemas.microsoft.com/office/powerpoint/2010/main" val="337041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21D0-2E3C-A41B-BBB0-D377FF87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13A1-41A8-C0EE-C6BC-12C86A17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RESULTS </a:t>
            </a:r>
            <a:r>
              <a:rPr lang="en-US" sz="2400" b="1" dirty="0"/>
              <a:t>(Contd..)</a:t>
            </a:r>
            <a:r>
              <a:rPr lang="en-US" sz="2400" b="1" dirty="0">
                <a:sym typeface="Helvetica Neue"/>
              </a:rPr>
              <a:t/>
            </a:r>
            <a:br>
              <a:rPr lang="en-US" sz="2400" b="1" dirty="0">
                <a:sym typeface="Helvetica Neue"/>
              </a:rPr>
            </a:b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B0F8F-B7E5-6213-DF1A-6DD58AFB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E4006C-BB6D-0E69-7AB3-163017863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F7BDA5B-CBB7-6820-46C6-2E43D2816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3E3AD-24AA-56B7-74D3-D231E10930E1}"/>
              </a:ext>
            </a:extLst>
          </p:cNvPr>
          <p:cNvSpPr txBox="1"/>
          <p:nvPr/>
        </p:nvSpPr>
        <p:spPr>
          <a:xfrm>
            <a:off x="1744590" y="1956779"/>
            <a:ext cx="3033161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A cluster near low TTC (~1 s) → unsafe cases</a:t>
            </a:r>
          </a:p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Another peak near ~4–5 s → safe cases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:The system experiences both safe and unsafe interactions depending on parameters.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F6BB3-2AE2-3BCF-12E2-495BB44F43CA}"/>
              </a:ext>
            </a:extLst>
          </p:cNvPr>
          <p:cNvSpPr txBox="1"/>
          <p:nvPr/>
        </p:nvSpPr>
        <p:spPr>
          <a:xfrm>
            <a:off x="5428663" y="1956778"/>
            <a:ext cx="3033161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Most simulations have low </a:t>
            </a:r>
            <a:r>
              <a:rPr lang="en-US" sz="1200" b="1" dirty="0" err="1"/>
              <a:t>viol_rate</a:t>
            </a:r>
            <a:r>
              <a:rPr lang="en-US" sz="1200" b="1" dirty="0"/>
              <a:t> (safe)</a:t>
            </a:r>
          </a:p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A minority exceed 0.1 (unsafe)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:Unsafe violations are rare but clearly present in sampled scenarios.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B449AE-F0CE-F740-A93C-76280853F586}"/>
              </a:ext>
            </a:extLst>
          </p:cNvPr>
          <p:cNvSpPr txBox="1"/>
          <p:nvPr/>
        </p:nvSpPr>
        <p:spPr>
          <a:xfrm>
            <a:off x="8930833" y="1937266"/>
            <a:ext cx="3033161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ACC frequently hits its max acceleration ceiling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:The controller uses nearly full acceleration often, showing assertive speed tracking.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D9583-BF2D-5D2D-DCD2-8BA4CBCFCDFE}"/>
              </a:ext>
            </a:extLst>
          </p:cNvPr>
          <p:cNvSpPr txBox="1"/>
          <p:nvPr/>
        </p:nvSpPr>
        <p:spPr>
          <a:xfrm>
            <a:off x="1744590" y="5017356"/>
            <a:ext cx="3033161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Moderate braking appears most often</a:t>
            </a:r>
          </a:p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Heavy braking (&lt; –6 m/s²) occurs but less frequently 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:Hard braking events coincide with low TTC and unsafe encounters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ECA9ED-AC79-E22F-3A07-C87332BB8A8D}"/>
              </a:ext>
            </a:extLst>
          </p:cNvPr>
          <p:cNvSpPr txBox="1"/>
          <p:nvPr/>
        </p:nvSpPr>
        <p:spPr>
          <a:xfrm>
            <a:off x="5428663" y="5035440"/>
            <a:ext cx="3033161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 algn="just">
              <a:buFont typeface="Arial" panose="020B0604020202020204" pitchFamily="34" charset="0"/>
              <a:buChar char="•"/>
            </a:pPr>
            <a:r>
              <a:rPr lang="en-US" sz="1200" b="1" dirty="0"/>
              <a:t>Covers good variety of tire/road combinations </a:t>
            </a:r>
          </a:p>
          <a:p>
            <a:pPr algn="just"/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:Rolling resistance variability is included but not strongly affecting safety KPIs.</a:t>
            </a:r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AA5D7C07-8D54-25CE-83AD-C5FFF242C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890" y="548938"/>
            <a:ext cx="10638442" cy="1356477"/>
          </a:xfrm>
          <a:prstGeom prst="rect">
            <a:avLst/>
          </a:prstGeom>
        </p:spPr>
      </p:pic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966A1771-EDBF-480F-9C38-25A0BBD6D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891" y="3288566"/>
            <a:ext cx="7056731" cy="1394582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90727B81-373A-E144-5D72-C0A41E7D6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636" y="497337"/>
            <a:ext cx="3849364" cy="139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90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A95EF-DE73-72BC-A2C4-5DCA8132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C7AB-B225-D27E-6DB7-A6CC45E6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RESULTS </a:t>
            </a:r>
            <a:r>
              <a:rPr lang="en-US" sz="2400" b="1" dirty="0"/>
              <a:t>(Contd..)</a:t>
            </a:r>
            <a:r>
              <a:rPr lang="en-US" sz="2400" b="1" dirty="0">
                <a:sym typeface="Helvetica Neue"/>
              </a:rPr>
              <a:t/>
            </a:r>
            <a:br>
              <a:rPr lang="en-US" sz="2400" b="1" dirty="0">
                <a:sym typeface="Helvetica Neue"/>
              </a:rPr>
            </a:b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B9077-11C6-5710-F8AE-E437CC0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3BE42F-836D-E741-E71C-55A52492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DE6921D-6A68-28E2-7C88-658C8E1F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25F813-8EFE-CC7A-55A2-ECB418AC79FF}"/>
              </a:ext>
            </a:extLst>
          </p:cNvPr>
          <p:cNvSpPr txBox="1"/>
          <p:nvPr/>
        </p:nvSpPr>
        <p:spPr>
          <a:xfrm>
            <a:off x="6452015" y="1349118"/>
            <a:ext cx="5083495" cy="450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The correlation matrix quantifies linear relationships between ACC parameters and KPIs.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Time gap shows strong positive correlation with </a:t>
            </a:r>
            <a:r>
              <a:rPr lang="en-US" sz="1801" dirty="0" err="1">
                <a:solidFill>
                  <a:srgbClr val="002060"/>
                </a:solidFill>
              </a:rPr>
              <a:t>TTC_min</a:t>
            </a:r>
            <a:r>
              <a:rPr lang="en-US" sz="1801" dirty="0">
                <a:solidFill>
                  <a:srgbClr val="002060"/>
                </a:solidFill>
              </a:rPr>
              <a:t> and strong negative correlation with violation rate.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 err="1">
                <a:solidFill>
                  <a:srgbClr val="002060"/>
                </a:solidFill>
              </a:rPr>
              <a:t>TTC_min</a:t>
            </a:r>
            <a:r>
              <a:rPr lang="en-US" sz="1801" dirty="0">
                <a:solidFill>
                  <a:srgbClr val="002060"/>
                </a:solidFill>
              </a:rPr>
              <a:t> and violation rate are almost perfectly negatively correlated, confirming their role as core safety indicators.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Minimum acceleration (</a:t>
            </a:r>
            <a:r>
              <a:rPr lang="en-US" sz="1801" dirty="0" err="1">
                <a:solidFill>
                  <a:srgbClr val="002060"/>
                </a:solidFill>
              </a:rPr>
              <a:t>a_min</a:t>
            </a:r>
            <a:r>
              <a:rPr lang="en-US" sz="1801" dirty="0">
                <a:solidFill>
                  <a:srgbClr val="002060"/>
                </a:solidFill>
              </a:rPr>
              <a:t>) is strongly linked to safety, reflecting emergency braking in risky scenarios.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Vehicle physical parameters show weak correlations, indicating limited influence compared to control parameters.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7E3711E-1964-5050-969D-16EFEA65E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" y="662053"/>
            <a:ext cx="6422443" cy="576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4D5E-409B-C9DD-87ED-B264462C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24A0-1DA2-3207-FF32-0DF54041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RESULTS </a:t>
            </a:r>
            <a:r>
              <a:rPr lang="en-US" sz="2400" b="1" dirty="0"/>
              <a:t>(Contd..)</a:t>
            </a:r>
            <a:r>
              <a:rPr lang="en-US" sz="2400" b="1" dirty="0">
                <a:sym typeface="Helvetica Neue"/>
              </a:rPr>
              <a:t/>
            </a:r>
            <a:br>
              <a:rPr lang="en-US" sz="2400" b="1" dirty="0">
                <a:sym typeface="Helvetica Neue"/>
              </a:rPr>
            </a:b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7C929-362A-B721-37C7-58F1F3F3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AF88A4-55B9-2E56-8E3E-7E4338C00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B256CC9-FB5F-5BD4-3B43-38D1B40D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CF0B33-5704-2B94-45F7-48F6B8028249}"/>
              </a:ext>
            </a:extLst>
          </p:cNvPr>
          <p:cNvSpPr txBox="1"/>
          <p:nvPr/>
        </p:nvSpPr>
        <p:spPr>
          <a:xfrm>
            <a:off x="6452015" y="1349118"/>
            <a:ext cx="5083495" cy="477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The p-value matrix shows the statistical significance of relationships between ACC parameters and KPIs.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Small p-values (p &lt; 0.05) indicate </a:t>
            </a:r>
            <a:r>
              <a:rPr lang="en-US" sz="1801" dirty="0" smtClean="0">
                <a:solidFill>
                  <a:srgbClr val="002060"/>
                </a:solidFill>
              </a:rPr>
              <a:t>a meaningful relationship</a:t>
            </a:r>
            <a:r>
              <a:rPr lang="en-US" sz="1801" dirty="0" smtClean="0">
                <a:solidFill>
                  <a:srgbClr val="002060"/>
                </a:solidFill>
              </a:rPr>
              <a:t>. </a:t>
            </a:r>
            <a:r>
              <a:rPr lang="en-US" sz="1801" dirty="0">
                <a:solidFill>
                  <a:srgbClr val="002060"/>
                </a:solidFill>
              </a:rPr>
              <a:t>P</a:t>
            </a:r>
            <a:r>
              <a:rPr lang="en-US" sz="1801" dirty="0" smtClean="0">
                <a:solidFill>
                  <a:srgbClr val="002060"/>
                </a:solidFill>
              </a:rPr>
              <a:t> </a:t>
            </a:r>
            <a:r>
              <a:rPr lang="en-US" sz="1801" dirty="0">
                <a:solidFill>
                  <a:srgbClr val="002060"/>
                </a:solidFill>
              </a:rPr>
              <a:t>indicates significance; r indicates effect size.</a:t>
            </a:r>
            <a:endParaRPr lang="en-US" sz="1801" dirty="0">
              <a:solidFill>
                <a:srgbClr val="002060"/>
              </a:solidFill>
            </a:endParaRP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Time gap is the most influential parameter, strongly affecting </a:t>
            </a:r>
            <a:r>
              <a:rPr lang="en-US" sz="1801" dirty="0" err="1">
                <a:solidFill>
                  <a:srgbClr val="002060"/>
                </a:solidFill>
              </a:rPr>
              <a:t>TTC_min</a:t>
            </a:r>
            <a:r>
              <a:rPr lang="en-US" sz="1801" dirty="0">
                <a:solidFill>
                  <a:srgbClr val="002060"/>
                </a:solidFill>
              </a:rPr>
              <a:t>, violation rate, and braking.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 err="1">
                <a:solidFill>
                  <a:srgbClr val="002060"/>
                </a:solidFill>
              </a:rPr>
              <a:t>TTC_min</a:t>
            </a:r>
            <a:r>
              <a:rPr lang="en-US" sz="1801" dirty="0">
                <a:solidFill>
                  <a:srgbClr val="002060"/>
                </a:solidFill>
              </a:rPr>
              <a:t> and violation rate are strongly correlated, confirming their role as key safety indicators.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Vehicle physical parameters (mass, drag, resistance, slope) show weaker influence on ACC safety outcomes.</a:t>
            </a:r>
          </a:p>
        </p:txBody>
      </p:sp>
      <p:pic>
        <p:nvPicPr>
          <p:cNvPr id="7" name="Picture 6" descr="A purple and white chart&#10;&#10;AI-generated content may be incorrect.">
            <a:extLst>
              <a:ext uri="{FF2B5EF4-FFF2-40B4-BE49-F238E27FC236}">
                <a16:creationId xmlns:a16="http://schemas.microsoft.com/office/drawing/2014/main" id="{543E2F61-1924-2A4D-6127-8B61D2644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3" y="985903"/>
            <a:ext cx="6389542" cy="559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4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1022-58F0-633F-DD68-87E0FBBC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15CE-AC17-678A-9C6B-0092C2B2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113" y="-89096"/>
            <a:ext cx="6307215" cy="916858"/>
          </a:xfrm>
        </p:spPr>
        <p:txBody>
          <a:bodyPr>
            <a:normAutofit/>
          </a:bodyPr>
          <a:lstStyle/>
          <a:p>
            <a:r>
              <a:rPr lang="en-US" sz="3600" b="1" dirty="0"/>
              <a:t>RESULTS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8C096-75D3-8465-6378-CFC54422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6EED1A-FA23-D14B-57CD-54806279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D41696AD-3D94-B483-9D77-30ED42C0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C04A7-BA5B-4895-01D0-E51EBE545CA6}"/>
              </a:ext>
            </a:extLst>
          </p:cNvPr>
          <p:cNvSpPr txBox="1"/>
          <p:nvPr/>
        </p:nvSpPr>
        <p:spPr>
          <a:xfrm>
            <a:off x="7063391" y="870033"/>
            <a:ext cx="4922132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r = 0.07, p = 0.32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Points are scattered with no clear trend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:Vehicle speed has almost no effect on </a:t>
            </a:r>
            <a:r>
              <a:rPr lang="en-US" sz="1200" b="1" dirty="0" err="1">
                <a:ln>
                  <a:solidFill>
                    <a:srgbClr val="FF0000"/>
                  </a:solidFill>
                </a:ln>
              </a:rPr>
              <a:t>TTC_min</a:t>
            </a:r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 in this dataset.</a:t>
            </a:r>
            <a:endParaRPr lang="en-US" sz="12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718C38-5B3E-205A-F796-402D3A3CE5E9}"/>
              </a:ext>
            </a:extLst>
          </p:cNvPr>
          <p:cNvSpPr txBox="1"/>
          <p:nvPr/>
        </p:nvSpPr>
        <p:spPr>
          <a:xfrm>
            <a:off x="7053239" y="2044398"/>
            <a:ext cx="4942436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Very small gaps (&lt;1.2 s) → many unsafe </a:t>
            </a:r>
            <a:r>
              <a:rPr lang="en-US" sz="1200" b="1" dirty="0" err="1"/>
              <a:t>TTC_min</a:t>
            </a:r>
            <a:r>
              <a:rPr lang="en-US" sz="1200" b="1" dirty="0"/>
              <a:t> values.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Medium gaps (1.4–1.7 s) → </a:t>
            </a:r>
            <a:r>
              <a:rPr lang="en-US" sz="1200" b="1" dirty="0" err="1"/>
              <a:t>TTC_min</a:t>
            </a:r>
            <a:r>
              <a:rPr lang="en-US" sz="1200" b="1" dirty="0"/>
              <a:t> improves.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Large gaps (&gt;1.7 s) → consistently high </a:t>
            </a:r>
            <a:r>
              <a:rPr lang="en-US" sz="1200" b="1" dirty="0" err="1"/>
              <a:t>TTC_min</a:t>
            </a:r>
            <a:r>
              <a:rPr lang="en-US" sz="1200" b="1" dirty="0"/>
              <a:t> (safe).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r = 0.81, p = 1.3e-43   Clear upward trend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:Time gap is the strongest safety parameter—larger gaps drastically improve </a:t>
            </a:r>
            <a:r>
              <a:rPr lang="en-US" sz="1200" b="1" dirty="0" err="1">
                <a:ln>
                  <a:solidFill>
                    <a:srgbClr val="FF0000"/>
                  </a:solidFill>
                </a:ln>
              </a:rPr>
              <a:t>TTC_min</a:t>
            </a:r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.</a:t>
            </a:r>
            <a:endParaRPr lang="en-US" sz="12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3CE5D6-AF8B-A867-3985-48B3C554188C}"/>
              </a:ext>
            </a:extLst>
          </p:cNvPr>
          <p:cNvSpPr txBox="1"/>
          <p:nvPr/>
        </p:nvSpPr>
        <p:spPr>
          <a:xfrm>
            <a:off x="6949666" y="3745427"/>
            <a:ext cx="4922132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 err="1"/>
              <a:t>viol_rate</a:t>
            </a:r>
            <a:r>
              <a:rPr lang="en-US" sz="1200" b="1" dirty="0"/>
              <a:t> &lt; 0.04 → </a:t>
            </a:r>
            <a:r>
              <a:rPr lang="en-US" sz="1200" b="1" dirty="0" err="1"/>
              <a:t>TTC_min</a:t>
            </a:r>
            <a:r>
              <a:rPr lang="en-US" sz="1200" b="1" dirty="0"/>
              <a:t> stays high (safe).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 err="1"/>
              <a:t>viol_rate</a:t>
            </a:r>
            <a:r>
              <a:rPr lang="en-US" sz="1200" b="1" dirty="0"/>
              <a:t> &gt; 0.06 → </a:t>
            </a:r>
            <a:r>
              <a:rPr lang="en-US" sz="1200" b="1" dirty="0" err="1"/>
              <a:t>TTC_min</a:t>
            </a:r>
            <a:r>
              <a:rPr lang="en-US" sz="1200" b="1" dirty="0"/>
              <a:t> quickly becomes unsafe.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r = −0.97, p = 2.9e-115, Strong downward trend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Strong negative correlation: more violations → closer to collision.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:Violation rate is a highly reliable predictor on low TTC values.</a:t>
            </a:r>
            <a:endParaRPr lang="en-US" sz="12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C6CD68-4758-4DB3-B8C8-B3BD5B6E9888}"/>
              </a:ext>
            </a:extLst>
          </p:cNvPr>
          <p:cNvSpPr txBox="1"/>
          <p:nvPr/>
        </p:nvSpPr>
        <p:spPr>
          <a:xfrm>
            <a:off x="7083697" y="5434756"/>
            <a:ext cx="4922132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Strong braking (–6 to –8 m/s²) → often low </a:t>
            </a:r>
            <a:r>
              <a:rPr lang="en-US" sz="1200" b="1" dirty="0" err="1"/>
              <a:t>TTC_min</a:t>
            </a:r>
            <a:r>
              <a:rPr lang="en-US" sz="1200" b="1" dirty="0"/>
              <a:t> values.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Mild braking (–3 to –4 m/s²) → safe </a:t>
            </a:r>
            <a:r>
              <a:rPr lang="en-US" sz="1200" b="1" dirty="0" err="1"/>
              <a:t>TTC_min</a:t>
            </a:r>
            <a:endParaRPr lang="en-US" sz="1200" b="1" dirty="0"/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pt-BR" sz="1200" b="1" dirty="0"/>
              <a:t>r = 0.83, p = 9.7e-49  Clear positive trend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</a:t>
            </a:r>
            <a:r>
              <a:rPr lang="en-US" sz="1200" b="1" dirty="0" smtClean="0">
                <a:ln>
                  <a:solidFill>
                    <a:srgbClr val="FF0000"/>
                  </a:solidFill>
                </a:ln>
              </a:rPr>
              <a:t>: </a:t>
            </a:r>
            <a:r>
              <a:rPr lang="en-GB" sz="1200" b="1" dirty="0" smtClean="0">
                <a:ln>
                  <a:solidFill>
                    <a:srgbClr val="FF0000"/>
                  </a:solidFill>
                </a:ln>
              </a:rPr>
              <a:t>consistent </a:t>
            </a:r>
            <a:r>
              <a:rPr lang="en-GB" sz="1200" b="1" dirty="0">
                <a:ln>
                  <a:solidFill>
                    <a:srgbClr val="FF0000"/>
                  </a:solidFill>
                </a:ln>
              </a:rPr>
              <a:t>with braking being associated with low TTC.</a:t>
            </a:r>
            <a:endParaRPr lang="en-US" sz="1200" b="1" dirty="0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C30BDA25-34E1-7E46-9B9D-63A80E8D5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03" y="604389"/>
            <a:ext cx="6456518" cy="594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5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5F28-7C87-E580-C38D-FA96B68B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C249-634C-B39A-5C4D-B0780158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482" y="25796"/>
            <a:ext cx="6307215" cy="91685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RESULTS </a:t>
            </a:r>
            <a:r>
              <a:rPr lang="en-US" sz="2400" b="1" dirty="0"/>
              <a:t>(Contd..)</a:t>
            </a:r>
            <a:r>
              <a:rPr lang="en-US" sz="2400" b="1" dirty="0">
                <a:sym typeface="Helvetica Neue"/>
              </a:rPr>
              <a:t/>
            </a:r>
            <a:br>
              <a:rPr lang="en-US" sz="2400" b="1" dirty="0">
                <a:sym typeface="Helvetica Neue"/>
              </a:rPr>
            </a:b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088DC-B689-EC97-FBC8-D0FB38C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370" y="5866436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E65BA8-7FDC-19CD-EEEB-AC5E8991C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7C64FF7-4D0D-EB0E-6D07-06C0BE19F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2D2AFC-2397-F472-2770-1E9DB9E1A699}"/>
              </a:ext>
            </a:extLst>
          </p:cNvPr>
          <p:cNvSpPr txBox="1"/>
          <p:nvPr/>
        </p:nvSpPr>
        <p:spPr>
          <a:xfrm>
            <a:off x="7135023" y="819161"/>
            <a:ext cx="4922130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Mild braking (–3 to –4 m/s²) → low </a:t>
            </a:r>
            <a:r>
              <a:rPr lang="en-US" sz="1200" b="1" dirty="0" err="1"/>
              <a:t>viol_rate</a:t>
            </a:r>
            <a:r>
              <a:rPr lang="en-US" sz="1200" b="1" dirty="0"/>
              <a:t> (safe).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Strong braking (–6 to –8 m/s²) often occurs with high </a:t>
            </a:r>
            <a:r>
              <a:rPr lang="en-US" sz="1200" b="1" dirty="0" err="1"/>
              <a:t>viol_rate</a:t>
            </a:r>
            <a:r>
              <a:rPr lang="en-US" sz="1200" b="1" dirty="0"/>
              <a:t>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r = −0.88, p ≈ 0 Strong downward trend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:violations happen in critical braking scenarios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A92FA-468C-75B7-D221-C94B9F26EFEA}"/>
              </a:ext>
            </a:extLst>
          </p:cNvPr>
          <p:cNvSpPr txBox="1"/>
          <p:nvPr/>
        </p:nvSpPr>
        <p:spPr>
          <a:xfrm>
            <a:off x="7114713" y="2450633"/>
            <a:ext cx="4942436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A significant number of simulations fall into the unsafe time-gap region.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Shows probability of unsafe time-gap selection across LHS design.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:Time gaps below 1.5 s occur frequently and pose a safety risk </a:t>
            </a:r>
            <a:endParaRPr lang="en-US" sz="12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6DCF3-1B48-392E-6FA8-57FD4B375D98}"/>
              </a:ext>
            </a:extLst>
          </p:cNvPr>
          <p:cNvSpPr txBox="1"/>
          <p:nvPr/>
        </p:nvSpPr>
        <p:spPr>
          <a:xfrm>
            <a:off x="7114713" y="4007522"/>
            <a:ext cx="4942436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Most simulations fall below 0.08 → generally </a:t>
            </a:r>
            <a:r>
              <a:rPr lang="en-US" sz="1200" b="1" dirty="0" err="1"/>
              <a:t>safe.Only</a:t>
            </a:r>
            <a:r>
              <a:rPr lang="en-US" sz="1200" b="1" dirty="0"/>
              <a:t> a small tail exceeds 0.10 → critical risk zone. 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:Only a small subset of scenarios show severe safety violations &gt; 0.10.</a:t>
            </a:r>
            <a:endParaRPr lang="en-US" sz="1200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EB7FB-7DBC-234C-C496-D118733F2F91}"/>
              </a:ext>
            </a:extLst>
          </p:cNvPr>
          <p:cNvSpPr txBox="1"/>
          <p:nvPr/>
        </p:nvSpPr>
        <p:spPr>
          <a:xfrm>
            <a:off x="7114713" y="5623351"/>
            <a:ext cx="4942436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Many simulations fall below 2.0 s → unsafe interactions</a:t>
            </a:r>
          </a:p>
          <a:p>
            <a:pPr marL="285753" indent="-285753">
              <a:buFont typeface="Arial" panose="020B0604020202020204" pitchFamily="34" charset="0"/>
              <a:buChar char="•"/>
            </a:pPr>
            <a:r>
              <a:rPr lang="en-US" sz="1200" b="1" dirty="0"/>
              <a:t>Long tail above 2.0 s suggests a mix of safe and unsafe scenarios</a:t>
            </a:r>
          </a:p>
          <a:p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Inference :A significant portion of LHS scenarios produce </a:t>
            </a:r>
            <a:r>
              <a:rPr lang="en-US" sz="1200" b="1" dirty="0" err="1">
                <a:ln>
                  <a:solidFill>
                    <a:srgbClr val="FF0000"/>
                  </a:solidFill>
                </a:ln>
              </a:rPr>
              <a:t>TTC_min</a:t>
            </a:r>
            <a:r>
              <a:rPr lang="en-US" sz="1200" b="1" dirty="0">
                <a:ln>
                  <a:solidFill>
                    <a:srgbClr val="FF0000"/>
                  </a:solidFill>
                </a:ln>
              </a:rPr>
              <a:t> &lt; 2 seconds—indicating ACC can become unsafe under certain parameter combinations..</a:t>
            </a:r>
          </a:p>
        </p:txBody>
      </p:sp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8E26DF3-6641-742F-D183-37B6166A2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54" y="660400"/>
            <a:ext cx="6386986" cy="619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0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9"/>
          <p:cNvSpPr txBox="1"/>
          <p:nvPr/>
        </p:nvSpPr>
        <p:spPr>
          <a:xfrm>
            <a:off x="2640294" y="273637"/>
            <a:ext cx="8295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4000"/>
            </a:pPr>
            <a:r>
              <a:rPr lang="en-US" sz="3600" b="1" dirty="0">
                <a:ln w="3175" cmpd="sng">
                  <a:noFill/>
                </a:ln>
                <a:latin typeface="+mj-lt"/>
                <a:ea typeface="+mj-ea"/>
                <a:cs typeface="+mj-cs"/>
                <a:sym typeface="Helvetica Neue Light"/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D0583A-94E1-6C33-C98A-34FF94FBE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5" y="1106502"/>
            <a:ext cx="507294" cy="4852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371252A-E235-C707-5AE8-4AFAF0F6E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C8C4BB-34D5-15B5-CFD9-DA588DEE0F75}"/>
              </a:ext>
            </a:extLst>
          </p:cNvPr>
          <p:cNvSpPr txBox="1"/>
          <p:nvPr/>
        </p:nvSpPr>
        <p:spPr>
          <a:xfrm>
            <a:off x="1880015" y="1106498"/>
            <a:ext cx="5083495" cy="20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Time Gap is the strongest safety factor— values &lt;1.5 s frequently unsafe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 smtClean="0">
                <a:solidFill>
                  <a:srgbClr val="002060"/>
                </a:solidFill>
              </a:rPr>
              <a:t>Low </a:t>
            </a:r>
            <a:r>
              <a:rPr lang="en-US" sz="1801" dirty="0">
                <a:solidFill>
                  <a:srgbClr val="002060"/>
                </a:solidFill>
              </a:rPr>
              <a:t>violation rate corresponds to high </a:t>
            </a:r>
            <a:r>
              <a:rPr lang="en-US" sz="1801" dirty="0" err="1">
                <a:solidFill>
                  <a:srgbClr val="002060"/>
                </a:solidFill>
              </a:rPr>
              <a:t>TTC_min</a:t>
            </a:r>
            <a:endParaRPr lang="en-US" sz="1801" dirty="0">
              <a:solidFill>
                <a:srgbClr val="002060"/>
              </a:solidFill>
            </a:endParaRP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GB" sz="1801" dirty="0" smtClean="0">
                <a:solidFill>
                  <a:srgbClr val="002060"/>
                </a:solidFill>
              </a:rPr>
              <a:t>Safe </a:t>
            </a:r>
            <a:r>
              <a:rPr lang="en-GB" sz="1801" dirty="0">
                <a:solidFill>
                  <a:srgbClr val="002060"/>
                </a:solidFill>
              </a:rPr>
              <a:t>region primarily driven by time gap; braking severity correlates with risk; speed effect not significant in this dataset.</a:t>
            </a:r>
            <a:endParaRPr lang="en-US" sz="180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8F5E0-3A4E-969E-9823-0A995DB030A7}"/>
              </a:ext>
            </a:extLst>
          </p:cNvPr>
          <p:cNvSpPr txBox="1"/>
          <p:nvPr/>
        </p:nvSpPr>
        <p:spPr>
          <a:xfrm>
            <a:off x="6096000" y="3935080"/>
            <a:ext cx="5083495" cy="146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ACC safety highly sensitive to time gap settings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LHS provides efficient system-wide evaluation</a:t>
            </a:r>
          </a:p>
          <a:p>
            <a:pPr marL="285753" indent="-285753" algn="just">
              <a:spcBef>
                <a:spcPct val="20000"/>
              </a:spcBef>
              <a:spcAft>
                <a:spcPts val="60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801" dirty="0">
                <a:solidFill>
                  <a:srgbClr val="002060"/>
                </a:solidFill>
              </a:rPr>
              <a:t>KPI block effectively identifies dangerous situations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F0F10-512F-7DA6-A043-21C34C91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4062131" y="-15831"/>
            <a:ext cx="8129873" cy="6889517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A7535-3851-431E-BDA9-B4F6C1201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3898" y="3"/>
            <a:ext cx="2436814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 sz="1801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CF76-89D9-B109-6FD5-23EFDE80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710" y="2218266"/>
            <a:ext cx="5154902" cy="26234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</a:rPr>
              <a:t>THANK  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3E8A-00BD-5513-53B8-05250F8C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5028B7-E263-1612-A276-A78932EB1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273640"/>
            <a:ext cx="651785" cy="6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07272EBC-F19B-E545-977B-31C1CD8D9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2" y="1066804"/>
            <a:ext cx="728089" cy="5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00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12844</TotalTime>
  <Words>1786</Words>
  <Application>Microsoft Office PowerPoint</Application>
  <PresentationFormat>Widescreen</PresentationFormat>
  <Paragraphs>261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Adobe Gothic Std B</vt:lpstr>
      <vt:lpstr>Aptos</vt:lpstr>
      <vt:lpstr>Arial</vt:lpstr>
      <vt:lpstr>Cambria Math</vt:lpstr>
      <vt:lpstr>Corbel</vt:lpstr>
      <vt:lpstr>Helvetica Neue</vt:lpstr>
      <vt:lpstr>Helvetica Neue Light</vt:lpstr>
      <vt:lpstr>Tahoma</vt:lpstr>
      <vt:lpstr>Parallax</vt:lpstr>
      <vt:lpstr>TESTING AND VALIDATION OF AUTOMATED  ROAD VEHICLES FINAL PROJECT 2025-2026 </vt:lpstr>
      <vt:lpstr>INTRODUCTION </vt:lpstr>
      <vt:lpstr>PowerPoint Presentation</vt:lpstr>
      <vt:lpstr>METHODOLOGY </vt:lpstr>
      <vt:lpstr>TEST STRATEGIES   </vt:lpstr>
      <vt:lpstr>ADAPTIVE CRUISE CONTROL (ACC) SYSTEMS   </vt:lpstr>
      <vt:lpstr>ADAPTIVE CRUISE CONTROLLER  </vt:lpstr>
      <vt:lpstr>ADAPTIVE CRUISE CONTROLLER (Contd..)  </vt:lpstr>
      <vt:lpstr>LATIN HYPERCUBE SAMPLING</vt:lpstr>
      <vt:lpstr>PowerPoint Presentation</vt:lpstr>
      <vt:lpstr>KEY PARAMETER INDEX </vt:lpstr>
      <vt:lpstr>RESULTS</vt:lpstr>
      <vt:lpstr>RESULTS (Contd..)  </vt:lpstr>
      <vt:lpstr>RESULTS (Contd..)  </vt:lpstr>
      <vt:lpstr>RESULTS (Contd..)  </vt:lpstr>
      <vt:lpstr>RESULTS (Contd..)  </vt:lpstr>
      <vt:lpstr>RESULTS</vt:lpstr>
      <vt:lpstr>RESULTS (Contd..)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AND VALIDATION OF AUTOMATED  ROAD VEHICLES FINAL PROJECT 2025-2026 </dc:title>
  <dc:creator>ADITHYA ZACHARI VALAVI</dc:creator>
  <cp:lastModifiedBy>PARSYSTEM</cp:lastModifiedBy>
  <cp:revision>34</cp:revision>
  <dcterms:created xsi:type="dcterms:W3CDTF">2025-03-02T13:24:58Z</dcterms:created>
  <dcterms:modified xsi:type="dcterms:W3CDTF">2025-12-18T20:06:27Z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2025-03-03T11:04:36Z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fee99056-358c-48d9-9a55-ab26420c7ee7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